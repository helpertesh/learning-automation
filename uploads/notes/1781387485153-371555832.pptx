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7" r:id="rId2"/>
    <p:sldId id="274" r:id="rId3"/>
    <p:sldId id="275" r:id="rId4"/>
    <p:sldId id="276" r:id="rId5"/>
    <p:sldId id="277" r:id="rId6"/>
    <p:sldId id="261" r:id="rId7"/>
    <p:sldId id="260" r:id="rId8"/>
    <p:sldId id="262" r:id="rId9"/>
    <p:sldId id="263" r:id="rId10"/>
    <p:sldId id="264" r:id="rId11"/>
    <p:sldId id="278" r:id="rId12"/>
    <p:sldId id="279" r:id="rId13"/>
    <p:sldId id="280" r:id="rId14"/>
    <p:sldId id="285" r:id="rId15"/>
    <p:sldId id="286" r:id="rId16"/>
    <p:sldId id="284" r:id="rId17"/>
    <p:sldId id="282" r:id="rId18"/>
    <p:sldId id="283" r:id="rId19"/>
    <p:sldId id="287" r:id="rId20"/>
    <p:sldId id="281" r:id="rId21"/>
    <p:sldId id="27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95FACE-DE10-4C5A-BB02-376A21FBBC2B}" type="datetimeFigureOut">
              <a:rPr lang="en-US" smtClean="0"/>
              <a:t>6/8/2026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953672-3D93-41A5-BF91-57834E9F0C95}"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6</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7</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8</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9</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10</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t>21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7" name="Group 76" title="Feather Background"/>
          <p:cNvGrpSpPr/>
          <p:nvPr/>
        </p:nvGrpSpPr>
        <p:grpSpPr>
          <a:xfrm>
            <a:off x="-6284" y="0"/>
            <a:ext cx="915252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sp>
      </p:grpSp>
      <p:grpSp>
        <p:nvGrpSpPr>
          <p:cNvPr id="84" name="Group 83" title="Text Container Shape"/>
          <p:cNvGrpSpPr/>
          <p:nvPr/>
        </p:nvGrpSpPr>
        <p:grpSpPr>
          <a:xfrm>
            <a:off x="5486400" y="466725"/>
            <a:ext cx="3662363"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6729989" y="6442525"/>
            <a:ext cx="2057400" cy="365125"/>
          </a:xfrm>
        </p:spPr>
        <p:txBody>
          <a:bodyPr/>
          <a:lstStyle/>
          <a:p>
            <a:fld id="{DA68D547-6FCF-45D4-BE44-647163B9FB6F}" type="datetime1">
              <a:rPr lang="en-US" smtClean="0"/>
              <a:t>6/8/2026</a:t>
            </a:fld>
            <a:endParaRPr lang="en-GB"/>
          </a:p>
        </p:txBody>
      </p:sp>
      <p:sp>
        <p:nvSpPr>
          <p:cNvPr id="5" name="Footer Placeholder 4"/>
          <p:cNvSpPr>
            <a:spLocks noGrp="1"/>
          </p:cNvSpPr>
          <p:nvPr>
            <p:ph type="ftr" sz="quarter" idx="11"/>
          </p:nvPr>
        </p:nvSpPr>
        <p:spPr>
          <a:xfrm>
            <a:off x="3024158" y="6442525"/>
            <a:ext cx="3086100" cy="365125"/>
          </a:xfrm>
        </p:spPr>
        <p:txBody>
          <a:bodyPr/>
          <a:lstStyle>
            <a:lvl1pPr algn="ctr">
              <a:defRPr/>
            </a:lvl1pPr>
          </a:lstStyle>
          <a:p>
            <a:r>
              <a:rPr lang="en-GB"/>
              <a:t>Data Structures &amp; Algorithms </a:t>
            </a:r>
            <a:endParaRPr lang="en-GB" dirty="0"/>
          </a:p>
        </p:txBody>
      </p:sp>
      <p:sp>
        <p:nvSpPr>
          <p:cNvPr id="6" name="Slide Number Placeholder 5"/>
          <p:cNvSpPr>
            <a:spLocks noGrp="1"/>
          </p:cNvSpPr>
          <p:nvPr>
            <p:ph type="sldNum" sz="quarter" idx="12"/>
          </p:nvPr>
        </p:nvSpPr>
        <p:spPr>
          <a:xfrm>
            <a:off x="349824" y="6442525"/>
            <a:ext cx="2066534" cy="365125"/>
          </a:xfrm>
        </p:spPr>
        <p:txBody>
          <a:bodyPr anchor="ctr"/>
          <a:lstStyle>
            <a:lvl1pPr algn="l">
              <a:defRPr sz="900"/>
            </a:lvl1pPr>
          </a:lstStyle>
          <a:p>
            <a:fld id="{2851580B-532C-46DD-8981-D1006AF55002}" type="slidenum">
              <a:rPr lang="en-GB" smtClean="0"/>
              <a:t>‹#›</a:t>
            </a:fld>
            <a:endParaRPr lang="en-GB"/>
          </a:p>
        </p:txBody>
      </p:sp>
      <p:sp>
        <p:nvSpPr>
          <p:cNvPr id="68"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ln>
        </p:spPr>
      </p:sp>
      <p:sp>
        <p:nvSpPr>
          <p:cNvPr id="216"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ln>
        </p:spPr>
      </p:sp>
      <p:sp>
        <p:nvSpPr>
          <p:cNvPr id="2" name="Title 1"/>
          <p:cNvSpPr>
            <a:spLocks noGrp="1"/>
          </p:cNvSpPr>
          <p:nvPr>
            <p:ph type="ctrTitle"/>
          </p:nvPr>
        </p:nvSpPr>
        <p:spPr>
          <a:xfrm>
            <a:off x="5940564" y="1023868"/>
            <a:ext cx="2845259" cy="3349641"/>
          </a:xfrm>
        </p:spPr>
        <p:txBody>
          <a:bodyPr anchor="t">
            <a:normAutofit/>
          </a:bodyPr>
          <a:lstStyle>
            <a:lvl1pPr algn="l">
              <a:lnSpc>
                <a:spcPct val="105000"/>
              </a:lnSpc>
              <a:defRPr sz="3300"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5940564" y="4945377"/>
            <a:ext cx="284525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9"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ln>
        </p:spPr>
      </p:sp>
      <p:sp>
        <p:nvSpPr>
          <p:cNvPr id="21"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AD639C-0051-418D-8965-FC1887BEFD88}" type="datetime1">
              <a:rPr lang="en-US" smtClean="0"/>
              <a:t>6/8/2026</a:t>
            </a:fld>
            <a:endParaRPr lang="en-GB"/>
          </a:p>
        </p:txBody>
      </p:sp>
      <p:sp>
        <p:nvSpPr>
          <p:cNvPr id="5" name="Footer Placeholder 4"/>
          <p:cNvSpPr>
            <a:spLocks noGrp="1"/>
          </p:cNvSpPr>
          <p:nvPr>
            <p:ph type="ftr" sz="quarter" idx="11"/>
          </p:nvPr>
        </p:nvSpPr>
        <p:spPr/>
        <p:txBody>
          <a:bodyPr/>
          <a:lstStyle/>
          <a:p>
            <a:r>
              <a:rPr lang="en-GB"/>
              <a:t>Data Structures &amp; Algorithms </a:t>
            </a:r>
            <a:endParaRPr lang="en-GB" dirty="0"/>
          </a:p>
        </p:txBody>
      </p:sp>
      <p:sp>
        <p:nvSpPr>
          <p:cNvPr id="6" name="Slide Number Placeholder 5"/>
          <p:cNvSpPr>
            <a:spLocks noGrp="1"/>
          </p:cNvSpPr>
          <p:nvPr>
            <p:ph type="sldNum" sz="quarter" idx="12"/>
          </p:nvPr>
        </p:nvSpPr>
        <p:spPr/>
        <p:txBody>
          <a:bodyPr/>
          <a:lstStyle/>
          <a:p>
            <a:fld id="{2851580B-532C-46DD-8981-D1006AF55002}"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9149366"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1838325" y="1262063"/>
            <a:ext cx="54864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6738557" y="6296731"/>
            <a:ext cx="2057400" cy="365125"/>
          </a:xfrm>
        </p:spPr>
        <p:txBody>
          <a:bodyPr/>
          <a:lstStyle>
            <a:lvl1pPr>
              <a:defRPr>
                <a:solidFill>
                  <a:schemeClr val="bg2"/>
                </a:solidFill>
              </a:defRPr>
            </a:lvl1pPr>
          </a:lstStyle>
          <a:p>
            <a:fld id="{2ADC22B9-C5CC-4D7D-A9AF-5427D7FC258A}" type="datetime1">
              <a:rPr lang="en-US" smtClean="0"/>
              <a:t>6/8/2026</a:t>
            </a:fld>
            <a:endParaRPr lang="en-GB"/>
          </a:p>
        </p:txBody>
      </p:sp>
      <p:sp>
        <p:nvSpPr>
          <p:cNvPr id="5" name="Footer Placeholder 4"/>
          <p:cNvSpPr>
            <a:spLocks noGrp="1"/>
          </p:cNvSpPr>
          <p:nvPr>
            <p:ph type="ftr" sz="quarter" idx="11"/>
          </p:nvPr>
        </p:nvSpPr>
        <p:spPr>
          <a:xfrm>
            <a:off x="3030683" y="6296731"/>
            <a:ext cx="3086100" cy="365125"/>
          </a:xfrm>
        </p:spPr>
        <p:txBody>
          <a:bodyPr/>
          <a:lstStyle>
            <a:lvl1pPr algn="ctr">
              <a:defRPr>
                <a:solidFill>
                  <a:schemeClr val="bg2"/>
                </a:solidFill>
              </a:defRPr>
            </a:lvl1pPr>
          </a:lstStyle>
          <a:p>
            <a:r>
              <a:rPr lang="en-GB"/>
              <a:t>Data Structures &amp; Algorithms </a:t>
            </a:r>
            <a:endParaRPr lang="en-GB" dirty="0"/>
          </a:p>
        </p:txBody>
      </p:sp>
      <p:sp>
        <p:nvSpPr>
          <p:cNvPr id="6" name="Slide Number Placeholder 5"/>
          <p:cNvSpPr>
            <a:spLocks noGrp="1"/>
          </p:cNvSpPr>
          <p:nvPr>
            <p:ph type="sldNum" sz="quarter" idx="12"/>
          </p:nvPr>
        </p:nvSpPr>
        <p:spPr>
          <a:xfrm>
            <a:off x="348057" y="6296731"/>
            <a:ext cx="2086157" cy="365125"/>
          </a:xfrm>
        </p:spPr>
        <p:txBody>
          <a:bodyPr anchor="ctr"/>
          <a:lstStyle>
            <a:lvl1pPr algn="l">
              <a:defRPr sz="900">
                <a:solidFill>
                  <a:schemeClr val="bg2"/>
                </a:solidFill>
              </a:defRPr>
            </a:lvl1pPr>
          </a:lstStyle>
          <a:p>
            <a:fld id="{2851580B-532C-46DD-8981-D1006AF55002}" type="slidenum">
              <a:rPr lang="en-GB" smtClean="0"/>
              <a:t>‹#›</a:t>
            </a:fld>
            <a:endParaRPr lang="en-GB"/>
          </a:p>
        </p:txBody>
      </p:sp>
      <p:sp>
        <p:nvSpPr>
          <p:cNvPr id="2" name="Title 1"/>
          <p:cNvSpPr>
            <a:spLocks noGrp="1"/>
          </p:cNvSpPr>
          <p:nvPr>
            <p:ph type="title"/>
          </p:nvPr>
        </p:nvSpPr>
        <p:spPr>
          <a:xfrm>
            <a:off x="2371726" y="1830580"/>
            <a:ext cx="4394793"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60938" y="4176132"/>
            <a:ext cx="3424856"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12609" y="2438400"/>
            <a:ext cx="3127248"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0955" y="2438400"/>
            <a:ext cx="3127248"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16A13F-8CA6-4CDE-9A21-A39595558382}" type="datetime1">
              <a:rPr lang="en-US" smtClean="0"/>
              <a:t>6/8/2026</a:t>
            </a:fld>
            <a:endParaRPr lang="en-GB"/>
          </a:p>
        </p:txBody>
      </p:sp>
      <p:sp>
        <p:nvSpPr>
          <p:cNvPr id="6" name="Footer Placeholder 5"/>
          <p:cNvSpPr>
            <a:spLocks noGrp="1"/>
          </p:cNvSpPr>
          <p:nvPr>
            <p:ph type="ftr" sz="quarter" idx="11"/>
          </p:nvPr>
        </p:nvSpPr>
        <p:spPr/>
        <p:txBody>
          <a:bodyPr/>
          <a:lstStyle/>
          <a:p>
            <a:r>
              <a:rPr lang="en-GB"/>
              <a:t>Data Structures &amp; Algorithms </a:t>
            </a:r>
            <a:endParaRPr lang="en-GB" dirty="0"/>
          </a:p>
        </p:txBody>
      </p:sp>
      <p:sp>
        <p:nvSpPr>
          <p:cNvPr id="7" name="Slide Number Placeholder 6"/>
          <p:cNvSpPr>
            <a:spLocks noGrp="1"/>
          </p:cNvSpPr>
          <p:nvPr>
            <p:ph type="sldNum" sz="quarter" idx="12"/>
          </p:nvPr>
        </p:nvSpPr>
        <p:spPr/>
        <p:txBody>
          <a:bodyPr/>
          <a:lstStyle/>
          <a:p>
            <a:fld id="{2851580B-532C-46DD-8981-D1006AF55002}"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04338" y="566928"/>
            <a:ext cx="6673866" cy="1563624"/>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00276"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2200276" y="3316640"/>
            <a:ext cx="3136392"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41811"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5641811" y="3316640"/>
            <a:ext cx="3136392"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1286EBA-E15D-4D28-BD1D-860A29B825DD}" type="datetime1">
              <a:rPr lang="en-US" smtClean="0"/>
              <a:t>6/8/2026</a:t>
            </a:fld>
            <a:endParaRPr lang="en-GB"/>
          </a:p>
        </p:txBody>
      </p:sp>
      <p:sp>
        <p:nvSpPr>
          <p:cNvPr id="8" name="Footer Placeholder 7"/>
          <p:cNvSpPr>
            <a:spLocks noGrp="1"/>
          </p:cNvSpPr>
          <p:nvPr>
            <p:ph type="ftr" sz="quarter" idx="11"/>
          </p:nvPr>
        </p:nvSpPr>
        <p:spPr/>
        <p:txBody>
          <a:bodyPr/>
          <a:lstStyle/>
          <a:p>
            <a:r>
              <a:rPr lang="en-GB"/>
              <a:t>Data Structures &amp; Algorithms </a:t>
            </a:r>
            <a:endParaRPr lang="en-GB" dirty="0"/>
          </a:p>
        </p:txBody>
      </p:sp>
      <p:sp>
        <p:nvSpPr>
          <p:cNvPr id="9" name="Slide Number Placeholder 8"/>
          <p:cNvSpPr>
            <a:spLocks noGrp="1"/>
          </p:cNvSpPr>
          <p:nvPr>
            <p:ph type="sldNum" sz="quarter" idx="12"/>
          </p:nvPr>
        </p:nvSpPr>
        <p:spPr/>
        <p:txBody>
          <a:bodyPr/>
          <a:lstStyle/>
          <a:p>
            <a:fld id="{2851580B-532C-46DD-8981-D1006AF5500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3CAB93-04D5-406E-BD0A-1750A9108476}"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lstStyle/>
          <a:p>
            <a:fld id="{2851580B-532C-46DD-8981-D1006AF55002}"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242422" y="723329"/>
            <a:ext cx="3173440"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59EF5383-5012-45C9-97ED-CEF3E472A2EF}" type="datetime1">
              <a:rPr lang="en-US" smtClean="0"/>
              <a:t>6/8/2026</a:t>
            </a:fld>
            <a:endParaRPr lang="en-GB"/>
          </a:p>
        </p:txBody>
      </p:sp>
      <p:sp>
        <p:nvSpPr>
          <p:cNvPr id="3" name="Footer Placeholder 2"/>
          <p:cNvSpPr>
            <a:spLocks noGrp="1"/>
          </p:cNvSpPr>
          <p:nvPr>
            <p:ph type="ftr" sz="quarter" idx="11"/>
          </p:nvPr>
        </p:nvSpPr>
        <p:spPr/>
        <p:txBody>
          <a:bodyPr/>
          <a:lstStyle/>
          <a:p>
            <a:r>
              <a:rPr lang="en-GB"/>
              <a:t>Data Structures &amp; Algorithms </a:t>
            </a:r>
            <a:endParaRPr lang="en-GB" dirty="0"/>
          </a:p>
        </p:txBody>
      </p:sp>
      <p:sp>
        <p:nvSpPr>
          <p:cNvPr id="4" name="Slide Number Placeholder 3"/>
          <p:cNvSpPr>
            <a:spLocks noGrp="1"/>
          </p:cNvSpPr>
          <p:nvPr>
            <p:ph type="sldNum" sz="quarter" idx="12"/>
          </p:nvPr>
        </p:nvSpPr>
        <p:spPr/>
        <p:txBody>
          <a:bodyPr/>
          <a:lstStyle/>
          <a:p>
            <a:fld id="{2851580B-532C-46DD-8981-D1006AF55002}"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07"/>
            <a:ext cx="2420786" cy="1687924"/>
          </a:xfrm>
        </p:spPr>
        <p:txBody>
          <a:bodyPr anchor="b">
            <a:normAutofit/>
          </a:bodyPr>
          <a:lstStyle>
            <a:lvl1pPr>
              <a:lnSpc>
                <a:spcPct val="104000"/>
              </a:lnSpc>
              <a:defRPr sz="2800"/>
            </a:lvl1pPr>
          </a:lstStyle>
          <a:p>
            <a:r>
              <a:rPr lang="en-US"/>
              <a:t>Click to edit Master title style</a:t>
            </a:r>
            <a:endParaRPr lang="en-US" dirty="0"/>
          </a:p>
        </p:txBody>
      </p:sp>
      <p:sp>
        <p:nvSpPr>
          <p:cNvPr id="3" name="Content Placeholder 2"/>
          <p:cNvSpPr>
            <a:spLocks noGrp="1"/>
          </p:cNvSpPr>
          <p:nvPr>
            <p:ph idx="1"/>
          </p:nvPr>
        </p:nvSpPr>
        <p:spPr>
          <a:xfrm>
            <a:off x="365798" y="441414"/>
            <a:ext cx="569778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55080" y="3223804"/>
            <a:ext cx="2420786"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357417" y="6286501"/>
            <a:ext cx="2420786" cy="365125"/>
          </a:xfrm>
        </p:spPr>
        <p:txBody>
          <a:bodyPr/>
          <a:lstStyle>
            <a:lvl1pPr algn="l">
              <a:defRPr/>
            </a:lvl1pPr>
          </a:lstStyle>
          <a:p>
            <a:fld id="{2340C5A9-CA1F-4A32-8B2B-3A26CCE4B534}" type="datetime1">
              <a:rPr lang="en-US" smtClean="0"/>
              <a:t>6/8/2026</a:t>
            </a:fld>
            <a:endParaRPr lang="en-GB"/>
          </a:p>
        </p:txBody>
      </p:sp>
      <p:sp>
        <p:nvSpPr>
          <p:cNvPr id="6" name="Footer Placeholder 5"/>
          <p:cNvSpPr>
            <a:spLocks noGrp="1"/>
          </p:cNvSpPr>
          <p:nvPr>
            <p:ph type="ftr" sz="quarter" idx="11"/>
          </p:nvPr>
        </p:nvSpPr>
        <p:spPr>
          <a:xfrm>
            <a:off x="365798" y="6286501"/>
            <a:ext cx="5697780" cy="365125"/>
          </a:xfrm>
        </p:spPr>
        <p:txBody>
          <a:bodyPr/>
          <a:lstStyle>
            <a:lvl1pPr algn="l">
              <a:defRPr/>
            </a:lvl1pPr>
          </a:lstStyle>
          <a:p>
            <a:r>
              <a:rPr lang="en-GB"/>
              <a:t>Data Structures &amp; Algorithms </a:t>
            </a:r>
            <a:endParaRPr lang="en-GB" dirty="0"/>
          </a:p>
        </p:txBody>
      </p:sp>
      <p:sp>
        <p:nvSpPr>
          <p:cNvPr id="7" name="Slide Number Placeholder 6"/>
          <p:cNvSpPr>
            <a:spLocks noGrp="1"/>
          </p:cNvSpPr>
          <p:nvPr>
            <p:ph type="sldNum" sz="quarter" idx="12"/>
          </p:nvPr>
        </p:nvSpPr>
        <p:spPr>
          <a:xfrm>
            <a:off x="6355080" y="373605"/>
            <a:ext cx="2420786" cy="816481"/>
          </a:xfrm>
        </p:spPr>
        <p:txBody>
          <a:bodyPr anchor="t"/>
          <a:lstStyle>
            <a:lvl1pPr algn="l">
              <a:defRPr sz="3800"/>
            </a:lvl1pPr>
          </a:lstStyle>
          <a:p>
            <a:fld id="{2851580B-532C-46DD-8981-D1006AF55002}"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10"/>
            <a:ext cx="2423160" cy="1687924"/>
          </a:xfrm>
        </p:spPr>
        <p:txBody>
          <a:bodyPr anchor="b">
            <a:noAutofit/>
          </a:bodyPr>
          <a:lstStyle>
            <a:lvl1pPr>
              <a:lnSpc>
                <a:spcPct val="104000"/>
              </a:lnSpc>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 y="1"/>
            <a:ext cx="6076988"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55080" y="3223806"/>
            <a:ext cx="242316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350194" y="6296616"/>
            <a:ext cx="2428010" cy="365125"/>
          </a:xfrm>
        </p:spPr>
        <p:txBody>
          <a:bodyPr/>
          <a:lstStyle>
            <a:lvl1pPr algn="l">
              <a:defRPr/>
            </a:lvl1pPr>
          </a:lstStyle>
          <a:p>
            <a:fld id="{D8354A84-9487-4061-B452-916C735B91E1}" type="datetime1">
              <a:rPr lang="en-US" smtClean="0"/>
              <a:t>6/8/2026</a:t>
            </a:fld>
            <a:endParaRPr lang="en-GB"/>
          </a:p>
        </p:txBody>
      </p:sp>
      <p:sp>
        <p:nvSpPr>
          <p:cNvPr id="6" name="Footer Placeholder 5"/>
          <p:cNvSpPr>
            <a:spLocks noGrp="1"/>
          </p:cNvSpPr>
          <p:nvPr>
            <p:ph type="ftr" sz="quarter" idx="11"/>
          </p:nvPr>
        </p:nvSpPr>
        <p:spPr>
          <a:xfrm>
            <a:off x="365798" y="6296616"/>
            <a:ext cx="5711190" cy="365125"/>
          </a:xfrm>
        </p:spPr>
        <p:txBody>
          <a:bodyPr/>
          <a:lstStyle>
            <a:lvl1pPr algn="l">
              <a:defRPr/>
            </a:lvl1pPr>
          </a:lstStyle>
          <a:p>
            <a:r>
              <a:rPr lang="en-GB"/>
              <a:t>Data Structures &amp; Algorithms </a:t>
            </a:r>
            <a:endParaRPr lang="en-GB" dirty="0"/>
          </a:p>
        </p:txBody>
      </p:sp>
      <p:sp>
        <p:nvSpPr>
          <p:cNvPr id="7" name="Slide Number Placeholder 6"/>
          <p:cNvSpPr>
            <a:spLocks noGrp="1"/>
          </p:cNvSpPr>
          <p:nvPr>
            <p:ph type="sldNum" sz="quarter" idx="12"/>
          </p:nvPr>
        </p:nvSpPr>
        <p:spPr>
          <a:xfrm>
            <a:off x="6355080" y="373607"/>
            <a:ext cx="2423160" cy="816482"/>
          </a:xfrm>
        </p:spPr>
        <p:txBody>
          <a:bodyPr anchor="t"/>
          <a:lstStyle>
            <a:lvl1pPr algn="l">
              <a:defRPr sz="3800"/>
            </a:lvl1pPr>
          </a:lstStyle>
          <a:p>
            <a:fld id="{2851580B-532C-46DD-8981-D1006AF55002}"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BDF3B9-E11B-498D-9A6F-65DC5D45CFD1}" type="datetime1">
              <a:rPr lang="en-US" smtClean="0"/>
              <a:t>6/8/2026</a:t>
            </a:fld>
            <a:endParaRPr lang="en-GB"/>
          </a:p>
        </p:txBody>
      </p:sp>
      <p:sp>
        <p:nvSpPr>
          <p:cNvPr id="5" name="Footer Placeholder 4"/>
          <p:cNvSpPr>
            <a:spLocks noGrp="1"/>
          </p:cNvSpPr>
          <p:nvPr>
            <p:ph type="ftr" sz="quarter" idx="11"/>
          </p:nvPr>
        </p:nvSpPr>
        <p:spPr/>
        <p:txBody>
          <a:bodyPr/>
          <a:lstStyle/>
          <a:p>
            <a:r>
              <a:rPr lang="en-GB"/>
              <a:t>Data Structures &amp; Algorithms </a:t>
            </a:r>
            <a:endParaRPr lang="en-GB" dirty="0"/>
          </a:p>
        </p:txBody>
      </p:sp>
      <p:sp>
        <p:nvSpPr>
          <p:cNvPr id="6" name="Slide Number Placeholder 5"/>
          <p:cNvSpPr>
            <a:spLocks noGrp="1"/>
          </p:cNvSpPr>
          <p:nvPr>
            <p:ph type="sldNum" sz="quarter" idx="12"/>
          </p:nvPr>
        </p:nvSpPr>
        <p:spPr/>
        <p:txBody>
          <a:bodyPr/>
          <a:lstStyle/>
          <a:p>
            <a:fld id="{2851580B-532C-46DD-8981-D1006AF55002}"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3" name="Group 12" title="Feathers"/>
          <p:cNvGrpSpPr/>
          <p:nvPr/>
        </p:nvGrpSpPr>
        <p:grpSpPr>
          <a:xfrm>
            <a:off x="242422" y="723329"/>
            <a:ext cx="3173440"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6573835" y="507037"/>
            <a:ext cx="1563624"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00275" y="524373"/>
            <a:ext cx="4087379"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958474" y="6296616"/>
            <a:ext cx="1879497" cy="365125"/>
          </a:xfrm>
        </p:spPr>
        <p:txBody>
          <a:bodyPr/>
          <a:lstStyle/>
          <a:p>
            <a:fld id="{99D66C02-70F8-47CA-BF80-361B3278B2B0}" type="datetime1">
              <a:rPr lang="en-US" smtClean="0"/>
              <a:t>6/8/2026</a:t>
            </a:fld>
            <a:endParaRPr lang="en-GB"/>
          </a:p>
        </p:txBody>
      </p:sp>
      <p:sp>
        <p:nvSpPr>
          <p:cNvPr id="5" name="Footer Placeholder 4"/>
          <p:cNvSpPr>
            <a:spLocks noGrp="1"/>
          </p:cNvSpPr>
          <p:nvPr>
            <p:ph type="ftr" sz="quarter" idx="11"/>
          </p:nvPr>
        </p:nvSpPr>
        <p:spPr>
          <a:xfrm>
            <a:off x="2200275" y="6296616"/>
            <a:ext cx="4469683" cy="365125"/>
          </a:xfrm>
        </p:spPr>
        <p:txBody>
          <a:bodyPr/>
          <a:lstStyle/>
          <a:p>
            <a:r>
              <a:rPr lang="en-GB"/>
              <a:t>Data Structures &amp; Algorithms </a:t>
            </a:r>
            <a:endParaRPr lang="en-GB" dirty="0"/>
          </a:p>
        </p:txBody>
      </p:sp>
      <p:sp>
        <p:nvSpPr>
          <p:cNvPr id="6" name="Slide Number Placeholder 5"/>
          <p:cNvSpPr>
            <a:spLocks noGrp="1"/>
          </p:cNvSpPr>
          <p:nvPr>
            <p:ph type="sldNum" sz="quarter" idx="12"/>
          </p:nvPr>
        </p:nvSpPr>
        <p:spPr>
          <a:xfrm rot="5400000">
            <a:off x="5878074" y="2928735"/>
            <a:ext cx="5383267" cy="453202"/>
          </a:xfrm>
        </p:spPr>
        <p:txBody>
          <a:bodyPr/>
          <a:lstStyle>
            <a:lvl1pPr algn="l">
              <a:defRPr/>
            </a:lvl1pPr>
          </a:lstStyle>
          <a:p>
            <a:fld id="{2851580B-532C-46DD-8981-D1006AF55002}" type="slidenum">
              <a:rPr lang="en-GB" smtClean="0"/>
              <a:t>‹#›</a:t>
            </a:fld>
            <a:endParaRPr lang="en-GB"/>
          </a:p>
        </p:txBody>
      </p:sp>
      <p:cxnSp>
        <p:nvCxnSpPr>
          <p:cNvPr id="12" name="Straight Connector 11" title="Rule Line"/>
          <p:cNvCxnSpPr/>
          <p:nvPr/>
        </p:nvCxnSpPr>
        <p:spPr>
          <a:xfrm>
            <a:off x="6476240" y="571503"/>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title="Feathers"/>
          <p:cNvGrpSpPr/>
          <p:nvPr/>
        </p:nvGrpSpPr>
        <p:grpSpPr>
          <a:xfrm>
            <a:off x="242422" y="723329"/>
            <a:ext cx="3173440"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105030" y="568345"/>
            <a:ext cx="6673174" cy="15607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200276" y="2438400"/>
            <a:ext cx="6577928" cy="3651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720803" y="6296616"/>
            <a:ext cx="20574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fld id="{93A57909-2E2E-4091-9F32-486A66BDADC3}" type="datetime1">
              <a:rPr lang="en-US" smtClean="0"/>
              <a:t>6/8/2026</a:t>
            </a:fld>
            <a:endParaRPr lang="en-GB"/>
          </a:p>
        </p:txBody>
      </p:sp>
      <p:sp>
        <p:nvSpPr>
          <p:cNvPr id="5" name="Footer Placeholder 4"/>
          <p:cNvSpPr>
            <a:spLocks noGrp="1"/>
          </p:cNvSpPr>
          <p:nvPr>
            <p:ph type="ftr" sz="quarter" idx="3"/>
          </p:nvPr>
        </p:nvSpPr>
        <p:spPr>
          <a:xfrm>
            <a:off x="2200276" y="6296616"/>
            <a:ext cx="4250530"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r>
              <a:rPr lang="en-GB"/>
              <a:t>Data Structures &amp; Algorithms </a:t>
            </a:r>
            <a:endParaRPr lang="en-GB" dirty="0"/>
          </a:p>
        </p:txBody>
      </p:sp>
      <p:sp>
        <p:nvSpPr>
          <p:cNvPr id="6" name="Slide Number Placeholder 5"/>
          <p:cNvSpPr>
            <a:spLocks noGrp="1"/>
          </p:cNvSpPr>
          <p:nvPr>
            <p:ph type="sldNum" sz="quarter" idx="4"/>
          </p:nvPr>
        </p:nvSpPr>
        <p:spPr>
          <a:xfrm>
            <a:off x="285750" y="627886"/>
            <a:ext cx="1413261"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fld id="{2851580B-532C-46DD-8981-D1006AF55002}" type="slidenum">
              <a:rPr lang="en-GB" smtClean="0"/>
              <a:t>‹#›</a:t>
            </a:fld>
            <a:endParaRPr lang="en-GB"/>
          </a:p>
        </p:txBody>
      </p:sp>
      <p:cxnSp>
        <p:nvCxnSpPr>
          <p:cNvPr id="9" name="Straight Connector 8"/>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Rule Line"/>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Abstract data types</a:t>
            </a:r>
            <a:endParaRPr lang="en-GB" b="1" dirty="0"/>
          </a:p>
        </p:txBody>
      </p:sp>
      <p:sp>
        <p:nvSpPr>
          <p:cNvPr id="3" name="Content Placeholder 2"/>
          <p:cNvSpPr>
            <a:spLocks noGrp="1"/>
          </p:cNvSpPr>
          <p:nvPr>
            <p:ph idx="1"/>
          </p:nvPr>
        </p:nvSpPr>
        <p:spPr/>
        <p:txBody>
          <a:bodyPr>
            <a:normAutofit/>
          </a:bodyPr>
          <a:lstStyle/>
          <a:p>
            <a:r>
              <a:rPr lang="en-GB" dirty="0"/>
              <a:t>A type is a collection of values. E.g. integer Boolean etc. They are simple types.</a:t>
            </a:r>
          </a:p>
          <a:p>
            <a:r>
              <a:rPr lang="en-GB" dirty="0"/>
              <a:t>A record in a database on the other ha</a:t>
            </a:r>
            <a:r>
              <a:rPr lang="en-US" altLang="en-GB" dirty="0"/>
              <a:t>n</a:t>
            </a:r>
            <a:r>
              <a:rPr lang="en-GB" dirty="0"/>
              <a:t>d contains many pieces of information and is called a composite type.</a:t>
            </a:r>
          </a:p>
          <a:p>
            <a:r>
              <a:rPr lang="en-GB" dirty="0"/>
              <a:t>A data item is a piece of information or a record whose value is drawn from a type. </a:t>
            </a:r>
          </a:p>
          <a:p>
            <a:r>
              <a:rPr lang="en-GB" dirty="0"/>
              <a:t>A data item is said to be a member of a type. </a:t>
            </a:r>
          </a:p>
          <a:p>
            <a:r>
              <a:rPr lang="en-GB" dirty="0"/>
              <a:t>A data type is a type together with a collection of operations to manipulate the type.</a:t>
            </a:r>
          </a:p>
          <a:p>
            <a:pPr marL="0" indent="0">
              <a:buNone/>
            </a:pPr>
            <a:endParaRPr lang="en-GB" dirty="0"/>
          </a:p>
        </p:txBody>
      </p:sp>
      <p:sp>
        <p:nvSpPr>
          <p:cNvPr id="4" name="Date Placeholder 3"/>
          <p:cNvSpPr>
            <a:spLocks noGrp="1"/>
          </p:cNvSpPr>
          <p:nvPr>
            <p:ph type="dt" sz="half" idx="10"/>
          </p:nvPr>
        </p:nvSpPr>
        <p:spPr/>
        <p:txBody>
          <a:bodyPr/>
          <a:lstStyle/>
          <a:p>
            <a:fld id="{157E02A9-81A0-4A25-9392-79CE1B6F1ECB}" type="datetime1">
              <a:rPr lang="en-US" smtClean="0"/>
              <a:t>6/8/2026</a:t>
            </a:fld>
            <a:endParaRPr lang="en-GB"/>
          </a:p>
        </p:txBody>
      </p:sp>
      <p:sp>
        <p:nvSpPr>
          <p:cNvPr id="6" name="Footer Placeholder 5"/>
          <p:cNvSpPr>
            <a:spLocks noGrp="1"/>
          </p:cNvSpPr>
          <p:nvPr>
            <p:ph type="ftr" sz="quarter" idx="11"/>
          </p:nvPr>
        </p:nvSpPr>
        <p:spPr>
          <a:xfrm>
            <a:off x="3124200" y="6356350"/>
            <a:ext cx="4948262" cy="365125"/>
          </a:xfrm>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Continuation..</a:t>
            </a:r>
          </a:p>
        </p:txBody>
      </p:sp>
      <p:sp>
        <p:nvSpPr>
          <p:cNvPr id="6" name="Content Placeholder 5"/>
          <p:cNvSpPr>
            <a:spLocks noGrp="1"/>
          </p:cNvSpPr>
          <p:nvPr>
            <p:ph idx="1"/>
          </p:nvPr>
        </p:nvSpPr>
        <p:spPr/>
        <p:txBody>
          <a:bodyPr/>
          <a:lstStyle/>
          <a:p>
            <a:r>
              <a:rPr lang="en-GB" dirty="0"/>
              <a:t>There is a difference between the logical concept of data type and its physical implementation in a computer program.</a:t>
            </a:r>
          </a:p>
          <a:p>
            <a:r>
              <a:rPr lang="en-GB" dirty="0"/>
              <a:t>A useful tool for specifying in the logical properties of a data type is the abstract data type, or ADT. </a:t>
            </a:r>
          </a:p>
          <a:p>
            <a:r>
              <a:rPr lang="en-GB" dirty="0"/>
              <a:t>An abstract data type (ADT) is the realization of a data type as a software component.</a:t>
            </a:r>
          </a:p>
        </p:txBody>
      </p:sp>
      <p:sp>
        <p:nvSpPr>
          <p:cNvPr id="3" name="Date Placeholder 2"/>
          <p:cNvSpPr>
            <a:spLocks noGrp="1"/>
          </p:cNvSpPr>
          <p:nvPr>
            <p:ph type="dt" sz="half" idx="10"/>
          </p:nvPr>
        </p:nvSpPr>
        <p:spPr/>
        <p:txBody>
          <a:bodyPr/>
          <a:lstStyle/>
          <a:p>
            <a:fld id="{05AD639C-0051-418D-8965-FC1887BEFD88}"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6" name="Content Placeholder 5"/>
          <p:cNvSpPr>
            <a:spLocks noGrp="1"/>
          </p:cNvSpPr>
          <p:nvPr>
            <p:ph idx="1"/>
          </p:nvPr>
        </p:nvSpPr>
        <p:spPr/>
        <p:txBody>
          <a:bodyPr>
            <a:normAutofit/>
          </a:bodyPr>
          <a:lstStyle/>
          <a:p>
            <a:r>
              <a:rPr lang="en-GB" dirty="0"/>
              <a:t>An ADT does not specify how the data type is implemented. These implementation details are hidden from the user of the ADT and protected from outside access, a concept referred to as encapsulation.</a:t>
            </a:r>
          </a:p>
          <a:p>
            <a:r>
              <a:rPr lang="en-GB" dirty="0"/>
              <a:t>A data structure is the implementation for an ADT. In an object-oriented language such as Java, an ADT and its implementation together make up a class.</a:t>
            </a:r>
          </a:p>
        </p:txBody>
      </p:sp>
      <p:sp>
        <p:nvSpPr>
          <p:cNvPr id="3" name="Date Placeholder 2"/>
          <p:cNvSpPr>
            <a:spLocks noGrp="1"/>
          </p:cNvSpPr>
          <p:nvPr>
            <p:ph type="dt" sz="half" idx="10"/>
          </p:nvPr>
        </p:nvSpPr>
        <p:spPr/>
        <p:txBody>
          <a:bodyPr/>
          <a:lstStyle/>
          <a:p>
            <a:fld id="{05AD639C-0051-418D-8965-FC1887BEFD88}"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6" name="Content Placeholder 5"/>
          <p:cNvSpPr>
            <a:spLocks noGrp="1"/>
          </p:cNvSpPr>
          <p:nvPr>
            <p:ph idx="1"/>
          </p:nvPr>
        </p:nvSpPr>
        <p:spPr/>
        <p:txBody>
          <a:bodyPr/>
          <a:lstStyle/>
          <a:p>
            <a:r>
              <a:rPr lang="en-GB" dirty="0"/>
              <a:t>Each operation associated with the ADT is implemented by a member function or method. The variables that define the space required by a data item are referred to as data members. </a:t>
            </a:r>
          </a:p>
          <a:p>
            <a:r>
              <a:rPr lang="en-GB" dirty="0"/>
              <a:t>An object is an instance of a class, that is, something that is created and takes up storage during the execution of a computer program.</a:t>
            </a:r>
          </a:p>
          <a:p>
            <a:endParaRPr lang="en-GB" dirty="0"/>
          </a:p>
        </p:txBody>
      </p:sp>
      <p:sp>
        <p:nvSpPr>
          <p:cNvPr id="3" name="Date Placeholder 2"/>
          <p:cNvSpPr>
            <a:spLocks noGrp="1"/>
          </p:cNvSpPr>
          <p:nvPr>
            <p:ph type="dt" sz="half" idx="10"/>
          </p:nvPr>
        </p:nvSpPr>
        <p:spPr/>
        <p:txBody>
          <a:bodyPr/>
          <a:lstStyle/>
          <a:p>
            <a:fld id="{05AD639C-0051-418D-8965-FC1887BEFD88}"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6" name="Content Placeholder 5"/>
          <p:cNvSpPr>
            <a:spLocks noGrp="1"/>
          </p:cNvSpPr>
          <p:nvPr>
            <p:ph idx="1"/>
          </p:nvPr>
        </p:nvSpPr>
        <p:spPr/>
        <p:txBody>
          <a:bodyPr/>
          <a:lstStyle/>
          <a:p>
            <a:pPr marL="274320" indent="-274320">
              <a:spcBef>
                <a:spcPts val="580"/>
              </a:spcBef>
              <a:buFont typeface="Wingdings 2" panose="05020102010507070707"/>
              <a:buChar char=""/>
              <a:defRPr/>
            </a:pPr>
            <a:r>
              <a:rPr lang="en-GB" dirty="0"/>
              <a:t>In defining an abstract data type as a mathematical concept, we are not concerned with space or time efficiency. Those are implementation issues. </a:t>
            </a:r>
          </a:p>
          <a:p>
            <a:pPr marL="274320" indent="-274320">
              <a:spcBef>
                <a:spcPts val="580"/>
              </a:spcBef>
              <a:buFont typeface="Wingdings 2" panose="05020102010507070707"/>
              <a:buChar char=""/>
              <a:defRPr/>
            </a:pPr>
            <a:r>
              <a:rPr lang="en-GB" dirty="0"/>
              <a:t>In fact, the definition of an ADT is not concerned with implementation details at all. It may not even be possible to implement a particular ADT on a particular piece of hardware or using a particular software system. </a:t>
            </a:r>
          </a:p>
          <a:p>
            <a:endParaRPr lang="en-GB" dirty="0"/>
          </a:p>
        </p:txBody>
      </p:sp>
      <p:sp>
        <p:nvSpPr>
          <p:cNvPr id="3" name="Date Placeholder 2"/>
          <p:cNvSpPr>
            <a:spLocks noGrp="1"/>
          </p:cNvSpPr>
          <p:nvPr>
            <p:ph type="dt" sz="half" idx="10"/>
          </p:nvPr>
        </p:nvSpPr>
        <p:spPr/>
        <p:txBody>
          <a:bodyPr/>
          <a:lstStyle/>
          <a:p>
            <a:fld id="{05AD639C-0051-418D-8965-FC1887BEFD88}"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5</a:t>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The Queue as an Abstract Data Type</a:t>
            </a:r>
            <a:endParaRPr lang="en-GB" dirty="0"/>
          </a:p>
        </p:txBody>
      </p:sp>
      <p:sp>
        <p:nvSpPr>
          <p:cNvPr id="6" name="Content Placeholder 5"/>
          <p:cNvSpPr>
            <a:spLocks noGrp="1"/>
          </p:cNvSpPr>
          <p:nvPr>
            <p:ph idx="1"/>
          </p:nvPr>
        </p:nvSpPr>
        <p:spPr/>
        <p:txBody>
          <a:bodyPr>
            <a:normAutofit lnSpcReduction="10000"/>
          </a:bodyPr>
          <a:lstStyle/>
          <a:p>
            <a:r>
              <a:rPr lang="en-GB" dirty="0"/>
              <a:t>The representation of a queue as an abstract data type is straightforward. We use </a:t>
            </a:r>
            <a:r>
              <a:rPr lang="en-GB" b="1" dirty="0" err="1"/>
              <a:t>eltype</a:t>
            </a:r>
            <a:r>
              <a:rPr lang="en-GB" b="1" dirty="0"/>
              <a:t> to denote the type of the queue </a:t>
            </a:r>
            <a:r>
              <a:rPr lang="en-GB" dirty="0"/>
              <a:t>element and parameterize the queue type queue </a:t>
            </a:r>
            <a:r>
              <a:rPr lang="en-GB" b="1" dirty="0" err="1"/>
              <a:t>eltype</a:t>
            </a:r>
            <a:r>
              <a:rPr lang="en-GB" b="1" dirty="0"/>
              <a:t>.</a:t>
            </a:r>
          </a:p>
          <a:p>
            <a:r>
              <a:rPr lang="en-GB" b="1" dirty="0"/>
              <a:t>abstract </a:t>
            </a:r>
            <a:r>
              <a:rPr lang="en-GB" b="1" dirty="0" err="1"/>
              <a:t>typedef</a:t>
            </a:r>
            <a:r>
              <a:rPr lang="en-GB" b="1" dirty="0"/>
              <a:t> &lt;&lt; </a:t>
            </a:r>
            <a:r>
              <a:rPr lang="en-GB" b="1" dirty="0" err="1"/>
              <a:t>eltype</a:t>
            </a:r>
            <a:r>
              <a:rPr lang="en-GB" b="1" dirty="0"/>
              <a:t>&gt;&gt;QUEUE(</a:t>
            </a:r>
            <a:r>
              <a:rPr lang="en-GB" b="1" dirty="0" err="1"/>
              <a:t>eltype</a:t>
            </a:r>
            <a:r>
              <a:rPr lang="en-GB" b="1" dirty="0"/>
              <a:t>);</a:t>
            </a:r>
          </a:p>
          <a:p>
            <a:r>
              <a:rPr lang="en-GB" b="1" dirty="0"/>
              <a:t>abstract empty(q)</a:t>
            </a:r>
          </a:p>
          <a:p>
            <a:r>
              <a:rPr lang="en-GB" dirty="0"/>
              <a:t>QUEUE (</a:t>
            </a:r>
            <a:r>
              <a:rPr lang="en-GB" dirty="0" err="1"/>
              <a:t>eltype</a:t>
            </a:r>
            <a:r>
              <a:rPr lang="en-GB" dirty="0"/>
              <a:t>) q;</a:t>
            </a:r>
          </a:p>
          <a:p>
            <a:r>
              <a:rPr lang="en-GB" b="1" dirty="0" err="1"/>
              <a:t>postcondition</a:t>
            </a:r>
            <a:r>
              <a:rPr lang="en-GB" b="1" dirty="0"/>
              <a:t> empty = = (</a:t>
            </a:r>
            <a:r>
              <a:rPr lang="en-GB" b="1" dirty="0" err="1"/>
              <a:t>len</a:t>
            </a:r>
            <a:r>
              <a:rPr lang="en-GB" b="1" dirty="0"/>
              <a:t>(q) = = 0);</a:t>
            </a:r>
          </a:p>
          <a:p>
            <a:r>
              <a:rPr lang="en-GB" b="1" dirty="0"/>
              <a:t>abstract </a:t>
            </a:r>
            <a:r>
              <a:rPr lang="en-GB" b="1" dirty="0" err="1"/>
              <a:t>eltype</a:t>
            </a:r>
            <a:r>
              <a:rPr lang="en-GB" b="1" dirty="0"/>
              <a:t> remove(q)</a:t>
            </a:r>
          </a:p>
          <a:p>
            <a:endParaRPr lang="en-GB" dirty="0"/>
          </a:p>
        </p:txBody>
      </p:sp>
      <p:sp>
        <p:nvSpPr>
          <p:cNvPr id="3" name="Date Placeholder 2"/>
          <p:cNvSpPr>
            <a:spLocks noGrp="1"/>
          </p:cNvSpPr>
          <p:nvPr>
            <p:ph type="dt" sz="half" idx="10"/>
          </p:nvPr>
        </p:nvSpPr>
        <p:spPr/>
        <p:txBody>
          <a:bodyPr/>
          <a:lstStyle/>
          <a:p>
            <a:fld id="{F1508C10-934A-4C23-AB20-86BF4CB2362E}"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6" name="Content Placeholder 5"/>
          <p:cNvSpPr>
            <a:spLocks noGrp="1"/>
          </p:cNvSpPr>
          <p:nvPr>
            <p:ph idx="1"/>
          </p:nvPr>
        </p:nvSpPr>
        <p:spPr/>
        <p:txBody>
          <a:bodyPr/>
          <a:lstStyle/>
          <a:p>
            <a:r>
              <a:rPr lang="en-GB" dirty="0"/>
              <a:t>QUEUE (e1type) q;</a:t>
            </a:r>
          </a:p>
          <a:p>
            <a:r>
              <a:rPr lang="en-GB" b="1" dirty="0"/>
              <a:t>precondition empty(q) = = FALSE;</a:t>
            </a:r>
          </a:p>
          <a:p>
            <a:r>
              <a:rPr lang="en-GB" b="1" dirty="0" err="1"/>
              <a:t>postcondition</a:t>
            </a:r>
            <a:r>
              <a:rPr lang="en-GB" b="1" dirty="0"/>
              <a:t> remove = = first(q’);</a:t>
            </a:r>
          </a:p>
          <a:p>
            <a:r>
              <a:rPr lang="fr-FR" dirty="0"/>
              <a:t>q = = </a:t>
            </a:r>
            <a:r>
              <a:rPr lang="fr-FR" dirty="0" err="1"/>
              <a:t>sub</a:t>
            </a:r>
            <a:r>
              <a:rPr lang="fr-FR" dirty="0"/>
              <a:t>(q’ , 1, </a:t>
            </a:r>
            <a:r>
              <a:rPr lang="fr-FR" dirty="0" err="1"/>
              <a:t>len</a:t>
            </a:r>
            <a:r>
              <a:rPr lang="fr-FR" dirty="0"/>
              <a:t>(q’) - 1);</a:t>
            </a:r>
          </a:p>
          <a:p>
            <a:r>
              <a:rPr lang="en-GB" dirty="0"/>
              <a:t>abstract insert(q, e1t) </a:t>
            </a:r>
          </a:p>
          <a:p>
            <a:r>
              <a:rPr lang="en-GB" dirty="0"/>
              <a:t>QUEUE (</a:t>
            </a:r>
            <a:r>
              <a:rPr lang="en-GB" dirty="0" err="1"/>
              <a:t>eltype</a:t>
            </a:r>
            <a:r>
              <a:rPr lang="en-GB" dirty="0"/>
              <a:t>) q;</a:t>
            </a:r>
          </a:p>
          <a:p>
            <a:r>
              <a:rPr lang="en-GB" dirty="0" err="1"/>
              <a:t>eltype</a:t>
            </a:r>
            <a:r>
              <a:rPr lang="en-GB" dirty="0"/>
              <a:t> </a:t>
            </a:r>
            <a:r>
              <a:rPr lang="en-GB" dirty="0" err="1"/>
              <a:t>elt</a:t>
            </a:r>
            <a:r>
              <a:rPr lang="en-GB" dirty="0"/>
              <a:t>;</a:t>
            </a:r>
          </a:p>
          <a:p>
            <a:r>
              <a:rPr lang="en-GB" dirty="0" err="1"/>
              <a:t>postcondition</a:t>
            </a:r>
            <a:r>
              <a:rPr lang="en-GB" dirty="0"/>
              <a:t> q = = q’+&lt;</a:t>
            </a:r>
            <a:r>
              <a:rPr lang="en-GB" dirty="0" err="1"/>
              <a:t>elt</a:t>
            </a:r>
            <a:r>
              <a:rPr lang="en-GB" dirty="0"/>
              <a:t>&gt;;-</a:t>
            </a:r>
          </a:p>
        </p:txBody>
      </p:sp>
      <p:sp>
        <p:nvSpPr>
          <p:cNvPr id="3" name="Date Placeholder 2"/>
          <p:cNvSpPr>
            <a:spLocks noGrp="1"/>
          </p:cNvSpPr>
          <p:nvPr>
            <p:ph type="dt" sz="half" idx="10"/>
          </p:nvPr>
        </p:nvSpPr>
        <p:spPr/>
        <p:txBody>
          <a:bodyPr/>
          <a:lstStyle/>
          <a:p>
            <a:fld id="{1B11EB5E-228A-4DFB-9BB1-25EF00D8A644}"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7</a:t>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C Implementation of Queues</a:t>
            </a:r>
            <a:endParaRPr lang="en-GB" dirty="0"/>
          </a:p>
        </p:txBody>
      </p:sp>
      <p:sp>
        <p:nvSpPr>
          <p:cNvPr id="6" name="Content Placeholder 5"/>
          <p:cNvSpPr>
            <a:spLocks noGrp="1"/>
          </p:cNvSpPr>
          <p:nvPr>
            <p:ph idx="1"/>
          </p:nvPr>
        </p:nvSpPr>
        <p:spPr/>
        <p:txBody>
          <a:bodyPr/>
          <a:lstStyle/>
          <a:p>
            <a:r>
              <a:rPr lang="en-GB" dirty="0"/>
              <a:t>How shall a queue be represented in C? </a:t>
            </a:r>
          </a:p>
          <a:p>
            <a:r>
              <a:rPr lang="en-GB" dirty="0"/>
              <a:t>One idea is to use an array to hold elements of the queue and to two variables, front and rear, to hold the positions within the array of the first and last elements of the queue. </a:t>
            </a:r>
          </a:p>
          <a:p>
            <a:r>
              <a:rPr lang="en-GB" dirty="0"/>
              <a:t>We might declare a queue. We might declare a queue q of integers by</a:t>
            </a:r>
          </a:p>
          <a:p>
            <a:endParaRPr lang="en-GB" dirty="0"/>
          </a:p>
        </p:txBody>
      </p:sp>
      <p:sp>
        <p:nvSpPr>
          <p:cNvPr id="3" name="Date Placeholder 2"/>
          <p:cNvSpPr>
            <a:spLocks noGrp="1"/>
          </p:cNvSpPr>
          <p:nvPr>
            <p:ph type="dt" sz="half" idx="10"/>
          </p:nvPr>
        </p:nvSpPr>
        <p:spPr/>
        <p:txBody>
          <a:bodyPr/>
          <a:lstStyle/>
          <a:p>
            <a:fld id="{AF83BC40-189B-4C8D-94D8-99F637089AA8}"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8</a:t>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Implementing a queue..</a:t>
            </a:r>
          </a:p>
        </p:txBody>
      </p:sp>
      <p:sp>
        <p:nvSpPr>
          <p:cNvPr id="6" name="Content Placeholder 5"/>
          <p:cNvSpPr>
            <a:spLocks noGrp="1"/>
          </p:cNvSpPr>
          <p:nvPr>
            <p:ph idx="1"/>
          </p:nvPr>
        </p:nvSpPr>
        <p:spPr/>
        <p:txBody>
          <a:bodyPr>
            <a:normAutofit/>
          </a:bodyPr>
          <a:lstStyle/>
          <a:p>
            <a:r>
              <a:rPr lang="en-GB" dirty="0"/>
              <a:t>#define MAXQUEUE 100</a:t>
            </a:r>
          </a:p>
          <a:p>
            <a:r>
              <a:rPr lang="en-GB" dirty="0" err="1"/>
              <a:t>struct</a:t>
            </a:r>
            <a:r>
              <a:rPr lang="en-GB" dirty="0"/>
              <a:t> queue {</a:t>
            </a:r>
          </a:p>
          <a:p>
            <a:r>
              <a:rPr lang="en-GB" dirty="0" err="1"/>
              <a:t>int</a:t>
            </a:r>
            <a:r>
              <a:rPr lang="en-GB" dirty="0"/>
              <a:t> items(MAXQUEUE];</a:t>
            </a:r>
          </a:p>
          <a:p>
            <a:r>
              <a:rPr lang="en-GB" dirty="0" err="1"/>
              <a:t>int</a:t>
            </a:r>
            <a:r>
              <a:rPr lang="en-GB" dirty="0"/>
              <a:t> front, rear;</a:t>
            </a:r>
          </a:p>
          <a:p>
            <a:r>
              <a:rPr lang="en-GB" dirty="0"/>
              <a:t>}q; </a:t>
            </a:r>
          </a:p>
          <a:p>
            <a:r>
              <a:rPr lang="en-GB" dirty="0"/>
              <a:t>Ignoring the possibility underflow and overflow for the moment, the operation insert (q, x) could be implemented by the statements</a:t>
            </a:r>
          </a:p>
          <a:p>
            <a:endParaRPr lang="en-GB" dirty="0"/>
          </a:p>
        </p:txBody>
      </p:sp>
      <p:sp>
        <p:nvSpPr>
          <p:cNvPr id="3" name="Date Placeholder 2"/>
          <p:cNvSpPr>
            <a:spLocks noGrp="1"/>
          </p:cNvSpPr>
          <p:nvPr>
            <p:ph type="dt" sz="half" idx="10"/>
          </p:nvPr>
        </p:nvSpPr>
        <p:spPr/>
        <p:txBody>
          <a:bodyPr/>
          <a:lstStyle/>
          <a:p>
            <a:fld id="{BDCE5828-33C2-4A7F-96FA-A020654DF269}"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9</a:t>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Queue..</a:t>
            </a:r>
          </a:p>
        </p:txBody>
      </p:sp>
      <p:sp>
        <p:nvSpPr>
          <p:cNvPr id="6" name="Content Placeholder 5"/>
          <p:cNvSpPr>
            <a:spLocks noGrp="1"/>
          </p:cNvSpPr>
          <p:nvPr>
            <p:ph idx="1"/>
          </p:nvPr>
        </p:nvSpPr>
        <p:spPr/>
        <p:txBody>
          <a:bodyPr/>
          <a:lstStyle/>
          <a:p>
            <a:r>
              <a:rPr lang="en-GB" dirty="0" err="1"/>
              <a:t>q.items</a:t>
            </a:r>
            <a:r>
              <a:rPr lang="en-GB" dirty="0"/>
              <a:t> [++</a:t>
            </a:r>
            <a:r>
              <a:rPr lang="en-GB" dirty="0" err="1"/>
              <a:t>q.rear</a:t>
            </a:r>
            <a:r>
              <a:rPr lang="en-GB" dirty="0"/>
              <a:t>] = x;</a:t>
            </a:r>
          </a:p>
          <a:p>
            <a:r>
              <a:rPr lang="en-GB" dirty="0"/>
              <a:t>and the operation x = remove(q) could be implemented by</a:t>
            </a:r>
          </a:p>
          <a:p>
            <a:r>
              <a:rPr lang="en-GB" dirty="0"/>
              <a:t>x = </a:t>
            </a:r>
            <a:r>
              <a:rPr lang="en-GB" dirty="0" err="1"/>
              <a:t>q.items</a:t>
            </a:r>
            <a:r>
              <a:rPr lang="en-GB" dirty="0"/>
              <a:t> [</a:t>
            </a:r>
            <a:r>
              <a:rPr lang="en-GB" dirty="0" err="1"/>
              <a:t>q.front</a:t>
            </a:r>
            <a:r>
              <a:rPr lang="en-GB" dirty="0"/>
              <a:t>++];</a:t>
            </a:r>
          </a:p>
        </p:txBody>
      </p:sp>
      <p:sp>
        <p:nvSpPr>
          <p:cNvPr id="3" name="Date Placeholder 2"/>
          <p:cNvSpPr>
            <a:spLocks noGrp="1"/>
          </p:cNvSpPr>
          <p:nvPr>
            <p:ph type="dt" sz="half" idx="10"/>
          </p:nvPr>
        </p:nvSpPr>
        <p:spPr/>
        <p:txBody>
          <a:bodyPr/>
          <a:lstStyle/>
          <a:p>
            <a:fld id="{E42E29AB-316B-4071-8BBF-27C547A78C5A}"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10</a:t>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97BD7-AEAF-1529-D37E-1F1DCF121893}"/>
              </a:ext>
            </a:extLst>
          </p:cNvPr>
          <p:cNvSpPr>
            <a:spLocks noGrp="1"/>
          </p:cNvSpPr>
          <p:nvPr>
            <p:ph type="title"/>
          </p:nvPr>
        </p:nvSpPr>
        <p:spPr>
          <a:xfrm>
            <a:off x="1547664" y="568345"/>
            <a:ext cx="7230540" cy="1560716"/>
          </a:xfrm>
        </p:spPr>
        <p:txBody>
          <a:bodyPr/>
          <a:lstStyle/>
          <a:p>
            <a:r>
              <a:rPr lang="en-US" dirty="0"/>
              <a:t>Operations performed</a:t>
            </a:r>
          </a:p>
        </p:txBody>
      </p:sp>
      <p:sp>
        <p:nvSpPr>
          <p:cNvPr id="4" name="Date Placeholder 3">
            <a:extLst>
              <a:ext uri="{FF2B5EF4-FFF2-40B4-BE49-F238E27FC236}">
                <a16:creationId xmlns:a16="http://schemas.microsoft.com/office/drawing/2014/main" id="{9A64A6C4-4FE3-21F8-B432-FC89476FB152}"/>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443A5D91-0CA5-4EDE-E5B1-BBA389757C40}"/>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106AB5BF-1AE0-6D9C-E104-31E750848F12}"/>
              </a:ext>
            </a:extLst>
          </p:cNvPr>
          <p:cNvSpPr>
            <a:spLocks noGrp="1"/>
          </p:cNvSpPr>
          <p:nvPr>
            <p:ph type="sldNum" sz="quarter" idx="12"/>
          </p:nvPr>
        </p:nvSpPr>
        <p:spPr/>
        <p:txBody>
          <a:bodyPr/>
          <a:lstStyle/>
          <a:p>
            <a:fld id="{2851580B-532C-46DD-8981-D1006AF55002}" type="slidenum">
              <a:rPr lang="en-GB" smtClean="0"/>
              <a:t>11</a:t>
            </a:fld>
            <a:endParaRPr lang="en-GB"/>
          </a:p>
        </p:txBody>
      </p:sp>
      <p:sp>
        <p:nvSpPr>
          <p:cNvPr id="7" name="Rectangle 1">
            <a:extLst>
              <a:ext uri="{FF2B5EF4-FFF2-40B4-BE49-F238E27FC236}">
                <a16:creationId xmlns:a16="http://schemas.microsoft.com/office/drawing/2014/main" id="{F7F2E048-DAC7-4C5D-AE86-4D8CD3BBC4F1}"/>
              </a:ext>
            </a:extLst>
          </p:cNvPr>
          <p:cNvSpPr>
            <a:spLocks noGrp="1" noChangeArrowheads="1"/>
          </p:cNvSpPr>
          <p:nvPr>
            <p:ph idx="1"/>
          </p:nvPr>
        </p:nvSpPr>
        <p:spPr bwMode="auto">
          <a:xfrm>
            <a:off x="1187450" y="2438400"/>
            <a:ext cx="7591425"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Enqueue()</a:t>
            </a:r>
            <a:r>
              <a:rPr kumimoji="0" lang="en-US" altLang="en-US" sz="1800" b="0" i="0" u="none" strike="noStrike" cap="none" normalizeH="0" baseline="0" dirty="0">
                <a:ln>
                  <a:noFill/>
                </a:ln>
                <a:solidFill>
                  <a:schemeClr val="tx1"/>
                </a:solidFill>
                <a:effectLst/>
                <a:latin typeface="Arial" panose="020B0604020202020204" pitchFamily="34" charset="0"/>
              </a:rPr>
              <a:t> – Insert an element at the rear of the queue.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Dequeue()</a:t>
            </a:r>
            <a:r>
              <a:rPr kumimoji="0" lang="en-US" altLang="en-US" sz="1800" b="0" i="0" u="none" strike="noStrike" cap="none" normalizeH="0" baseline="0" dirty="0">
                <a:ln>
                  <a:noFill/>
                </a:ln>
                <a:solidFill>
                  <a:schemeClr val="tx1"/>
                </a:solidFill>
                <a:effectLst/>
                <a:latin typeface="Arial" panose="020B0604020202020204" pitchFamily="34" charset="0"/>
              </a:rPr>
              <a:t> – Remove an element from the front of the queue.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Peek/Front()</a:t>
            </a:r>
            <a:r>
              <a:rPr kumimoji="0" lang="en-US" altLang="en-US" sz="1800" b="0" i="0" u="none" strike="noStrike" cap="none" normalizeH="0" baseline="0" dirty="0">
                <a:ln>
                  <a:noFill/>
                </a:ln>
                <a:solidFill>
                  <a:schemeClr val="tx1"/>
                </a:solidFill>
                <a:effectLst/>
                <a:latin typeface="Arial" panose="020B0604020202020204" pitchFamily="34" charset="0"/>
              </a:rPr>
              <a:t> – View the front element without removing 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isEmpty</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 Check if the queue is empty.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isFull</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 Check if the queue is full (for array implementation). </a:t>
            </a:r>
          </a:p>
        </p:txBody>
      </p:sp>
    </p:spTree>
    <p:extLst>
      <p:ext uri="{BB962C8B-B14F-4D97-AF65-F5344CB8AC3E}">
        <p14:creationId xmlns:p14="http://schemas.microsoft.com/office/powerpoint/2010/main" val="28332452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1887B-EA93-1A50-4E6E-9B542CB642F7}"/>
              </a:ext>
            </a:extLst>
          </p:cNvPr>
          <p:cNvSpPr>
            <a:spLocks noGrp="1"/>
          </p:cNvSpPr>
          <p:nvPr>
            <p:ph type="title"/>
          </p:nvPr>
        </p:nvSpPr>
        <p:spPr/>
        <p:txBody>
          <a:bodyPr/>
          <a:lstStyle/>
          <a:p>
            <a:r>
              <a:rPr lang="en-US" dirty="0"/>
              <a:t>LAB – QUEUE MPLEMENTATON</a:t>
            </a:r>
          </a:p>
        </p:txBody>
      </p:sp>
      <p:sp>
        <p:nvSpPr>
          <p:cNvPr id="3" name="Content Placeholder 2">
            <a:extLst>
              <a:ext uri="{FF2B5EF4-FFF2-40B4-BE49-F238E27FC236}">
                <a16:creationId xmlns:a16="http://schemas.microsoft.com/office/drawing/2014/main" id="{EE7AAA6F-2136-8A25-57C0-91DD7B726B15}"/>
              </a:ext>
            </a:extLst>
          </p:cNvPr>
          <p:cNvSpPr>
            <a:spLocks noGrp="1"/>
          </p:cNvSpPr>
          <p:nvPr>
            <p:ph idx="1"/>
          </p:nvPr>
        </p:nvSpPr>
        <p:spPr>
          <a:xfrm>
            <a:off x="971600" y="2438400"/>
            <a:ext cx="7806604" cy="3651504"/>
          </a:xfrm>
        </p:spPr>
        <p:txBody>
          <a:bodyPr>
            <a:normAutofit fontScale="92500" lnSpcReduction="20000"/>
          </a:bodyPr>
          <a:lstStyle/>
          <a:p>
            <a:r>
              <a:rPr lang="en-US" dirty="0"/>
              <a:t>Lab Example 1: Printer Queue System</a:t>
            </a:r>
          </a:p>
          <a:p>
            <a:endParaRPr lang="en-US" dirty="0"/>
          </a:p>
          <a:p>
            <a:r>
              <a:rPr lang="en-US" dirty="0"/>
              <a:t>Problem:</a:t>
            </a:r>
          </a:p>
          <a:p>
            <a:r>
              <a:rPr lang="en-US" dirty="0"/>
              <a:t>A computer lab has one printer shared by many students. Print jobs are processed in the order they are received.</a:t>
            </a:r>
          </a:p>
          <a:p>
            <a:endParaRPr lang="en-US" dirty="0"/>
          </a:p>
          <a:p>
            <a:r>
              <a:rPr lang="en-US" dirty="0"/>
              <a:t>Queue Operations:</a:t>
            </a:r>
          </a:p>
          <a:p>
            <a:endParaRPr lang="en-US" dirty="0"/>
          </a:p>
          <a:p>
            <a:r>
              <a:rPr lang="en-US" dirty="0"/>
              <a:t>Enqueue: Add a print job.</a:t>
            </a:r>
          </a:p>
          <a:p>
            <a:r>
              <a:rPr lang="en-US" dirty="0"/>
              <a:t>Dequeue: Print and remove the next job.</a:t>
            </a:r>
          </a:p>
        </p:txBody>
      </p:sp>
      <p:sp>
        <p:nvSpPr>
          <p:cNvPr id="4" name="Date Placeholder 3">
            <a:extLst>
              <a:ext uri="{FF2B5EF4-FFF2-40B4-BE49-F238E27FC236}">
                <a16:creationId xmlns:a16="http://schemas.microsoft.com/office/drawing/2014/main" id="{1E9C23E0-77E3-6ABB-F3B8-EF0C1FDA3670}"/>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1F7518F9-4893-BF10-52F9-2D81DBF54ED9}"/>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67A28493-9846-5B2E-A2C3-AA9BC4D1C440}"/>
              </a:ext>
            </a:extLst>
          </p:cNvPr>
          <p:cNvSpPr>
            <a:spLocks noGrp="1"/>
          </p:cNvSpPr>
          <p:nvPr>
            <p:ph type="sldNum" sz="quarter" idx="12"/>
          </p:nvPr>
        </p:nvSpPr>
        <p:spPr/>
        <p:txBody>
          <a:bodyPr/>
          <a:lstStyle/>
          <a:p>
            <a:fld id="{2851580B-532C-46DD-8981-D1006AF55002}" type="slidenum">
              <a:rPr lang="en-GB" smtClean="0"/>
              <a:t>12</a:t>
            </a:fld>
            <a:endParaRPr lang="en-GB"/>
          </a:p>
        </p:txBody>
      </p:sp>
    </p:spTree>
    <p:extLst>
      <p:ext uri="{BB962C8B-B14F-4D97-AF65-F5344CB8AC3E}">
        <p14:creationId xmlns:p14="http://schemas.microsoft.com/office/powerpoint/2010/main" val="3881044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FD7B-480E-DBD5-719C-9A574AD65F0D}"/>
              </a:ext>
            </a:extLst>
          </p:cNvPr>
          <p:cNvSpPr>
            <a:spLocks noGrp="1"/>
          </p:cNvSpPr>
          <p:nvPr>
            <p:ph type="title"/>
          </p:nvPr>
        </p:nvSpPr>
        <p:spPr>
          <a:xfrm>
            <a:off x="1835696" y="568345"/>
            <a:ext cx="6942508" cy="1560716"/>
          </a:xfrm>
        </p:spPr>
        <p:txBody>
          <a:bodyPr/>
          <a:lstStyle/>
          <a:p>
            <a:r>
              <a:rPr lang="en-US" dirty="0"/>
              <a:t>Pseudocode</a:t>
            </a:r>
          </a:p>
        </p:txBody>
      </p:sp>
      <p:sp>
        <p:nvSpPr>
          <p:cNvPr id="3" name="Content Placeholder 2">
            <a:extLst>
              <a:ext uri="{FF2B5EF4-FFF2-40B4-BE49-F238E27FC236}">
                <a16:creationId xmlns:a16="http://schemas.microsoft.com/office/drawing/2014/main" id="{0CDF534D-F93E-C95F-A1C1-4732D219F091}"/>
              </a:ext>
            </a:extLst>
          </p:cNvPr>
          <p:cNvSpPr>
            <a:spLocks noGrp="1"/>
          </p:cNvSpPr>
          <p:nvPr>
            <p:ph idx="1"/>
          </p:nvPr>
        </p:nvSpPr>
        <p:spPr>
          <a:xfrm>
            <a:off x="1835696" y="2438400"/>
            <a:ext cx="6942508" cy="3651504"/>
          </a:xfrm>
        </p:spPr>
        <p:txBody>
          <a:bodyPr>
            <a:normAutofit fontScale="77500" lnSpcReduction="20000"/>
          </a:bodyPr>
          <a:lstStyle/>
          <a:p>
            <a:r>
              <a:rPr lang="en-US" dirty="0"/>
              <a:t>START</a:t>
            </a:r>
            <a:br>
              <a:rPr lang="en-US" dirty="0"/>
            </a:br>
            <a:br>
              <a:rPr lang="en-US" dirty="0"/>
            </a:br>
            <a:r>
              <a:rPr lang="en-US" dirty="0"/>
              <a:t>CREATE Queue </a:t>
            </a:r>
            <a:r>
              <a:rPr lang="en-US" dirty="0" err="1"/>
              <a:t>PrinterQueue</a:t>
            </a:r>
            <a:br>
              <a:rPr lang="en-US" dirty="0"/>
            </a:br>
            <a:br>
              <a:rPr lang="en-US" dirty="0"/>
            </a:br>
            <a:r>
              <a:rPr lang="en-US" dirty="0"/>
              <a:t>ENQUEUE("Doc1")</a:t>
            </a:r>
            <a:br>
              <a:rPr lang="en-US" dirty="0"/>
            </a:br>
            <a:r>
              <a:rPr lang="en-US" dirty="0"/>
              <a:t>ENQUEUE("Doc2")</a:t>
            </a:r>
            <a:br>
              <a:rPr lang="en-US" dirty="0"/>
            </a:br>
            <a:r>
              <a:rPr lang="en-US" dirty="0"/>
              <a:t>ENQUEUE("Doc3")</a:t>
            </a:r>
            <a:br>
              <a:rPr lang="en-US" dirty="0"/>
            </a:br>
            <a:br>
              <a:rPr lang="en-US" dirty="0"/>
            </a:br>
            <a:r>
              <a:rPr lang="en-US" dirty="0"/>
              <a:t>DISPLAY </a:t>
            </a:r>
            <a:r>
              <a:rPr lang="en-US" dirty="0" err="1"/>
              <a:t>PrinterQueue</a:t>
            </a:r>
            <a:br>
              <a:rPr lang="en-US" dirty="0"/>
            </a:br>
            <a:br>
              <a:rPr lang="en-US" dirty="0"/>
            </a:br>
            <a:r>
              <a:rPr lang="en-US" dirty="0"/>
              <a:t>WHILE </a:t>
            </a:r>
            <a:r>
              <a:rPr lang="en-US" dirty="0" err="1"/>
              <a:t>PrinterQueue</a:t>
            </a:r>
            <a:r>
              <a:rPr lang="en-US" dirty="0"/>
              <a:t> is not EMPTY</a:t>
            </a:r>
            <a:br>
              <a:rPr lang="en-US" dirty="0"/>
            </a:br>
            <a:r>
              <a:rPr lang="en-US" dirty="0"/>
              <a:t>Document ← DEQUEUE()</a:t>
            </a:r>
            <a:br>
              <a:rPr lang="en-US" dirty="0"/>
            </a:br>
            <a:r>
              <a:rPr lang="en-US" dirty="0"/>
              <a:t>PRINT "Printing ", Document</a:t>
            </a:r>
            <a:br>
              <a:rPr lang="en-US" dirty="0"/>
            </a:br>
            <a:r>
              <a:rPr lang="en-US" dirty="0"/>
              <a:t>END WHILE</a:t>
            </a:r>
            <a:br>
              <a:rPr lang="en-US" dirty="0"/>
            </a:br>
            <a:br>
              <a:rPr lang="en-US" dirty="0"/>
            </a:br>
            <a:r>
              <a:rPr lang="en-US" dirty="0"/>
              <a:t>STOP</a:t>
            </a:r>
          </a:p>
        </p:txBody>
      </p:sp>
      <p:sp>
        <p:nvSpPr>
          <p:cNvPr id="4" name="Date Placeholder 3">
            <a:extLst>
              <a:ext uri="{FF2B5EF4-FFF2-40B4-BE49-F238E27FC236}">
                <a16:creationId xmlns:a16="http://schemas.microsoft.com/office/drawing/2014/main" id="{89996168-9C07-2011-427E-BDE6F7D61958}"/>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12BEC660-8EA9-032D-C352-9376EE534CCE}"/>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15CFF3CB-A830-F8B7-3EB1-A68D3E9B394F}"/>
              </a:ext>
            </a:extLst>
          </p:cNvPr>
          <p:cNvSpPr>
            <a:spLocks noGrp="1"/>
          </p:cNvSpPr>
          <p:nvPr>
            <p:ph type="sldNum" sz="quarter" idx="12"/>
          </p:nvPr>
        </p:nvSpPr>
        <p:spPr/>
        <p:txBody>
          <a:bodyPr/>
          <a:lstStyle/>
          <a:p>
            <a:fld id="{2851580B-532C-46DD-8981-D1006AF55002}" type="slidenum">
              <a:rPr lang="en-GB" smtClean="0"/>
              <a:t>13</a:t>
            </a:fld>
            <a:endParaRPr lang="en-GB"/>
          </a:p>
        </p:txBody>
      </p:sp>
    </p:spTree>
    <p:extLst>
      <p:ext uri="{BB962C8B-B14F-4D97-AF65-F5344CB8AC3E}">
        <p14:creationId xmlns:p14="http://schemas.microsoft.com/office/powerpoint/2010/main" val="1863303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C49A-6D5E-54CF-953C-C56F266180AF}"/>
              </a:ext>
            </a:extLst>
          </p:cNvPr>
          <p:cNvSpPr>
            <a:spLocks noGrp="1"/>
          </p:cNvSpPr>
          <p:nvPr>
            <p:ph type="title"/>
          </p:nvPr>
        </p:nvSpPr>
        <p:spPr/>
        <p:txBody>
          <a:bodyPr/>
          <a:lstStyle/>
          <a:p>
            <a:r>
              <a:rPr lang="en-US" dirty="0"/>
              <a:t>Generic Queue ADT Pseudocode</a:t>
            </a:r>
          </a:p>
        </p:txBody>
      </p:sp>
      <p:sp>
        <p:nvSpPr>
          <p:cNvPr id="3" name="Content Placeholder 2">
            <a:extLst>
              <a:ext uri="{FF2B5EF4-FFF2-40B4-BE49-F238E27FC236}">
                <a16:creationId xmlns:a16="http://schemas.microsoft.com/office/drawing/2014/main" id="{4EF593B4-132E-1AAD-6ABE-E13A7B77300C}"/>
              </a:ext>
            </a:extLst>
          </p:cNvPr>
          <p:cNvSpPr>
            <a:spLocks noGrp="1"/>
          </p:cNvSpPr>
          <p:nvPr>
            <p:ph idx="1"/>
          </p:nvPr>
        </p:nvSpPr>
        <p:spPr/>
        <p:txBody>
          <a:bodyPr>
            <a:normAutofit fontScale="85000" lnSpcReduction="20000"/>
          </a:bodyPr>
          <a:lstStyle/>
          <a:p>
            <a:r>
              <a:rPr lang="en-US" dirty="0"/>
              <a:t>QUEUE ADT</a:t>
            </a:r>
            <a:br>
              <a:rPr lang="en-US" dirty="0"/>
            </a:br>
            <a:br>
              <a:rPr lang="en-US" dirty="0"/>
            </a:br>
            <a:r>
              <a:rPr lang="en-US" dirty="0"/>
              <a:t>INITIALIZE Queue</a:t>
            </a:r>
            <a:br>
              <a:rPr lang="en-US" dirty="0"/>
            </a:br>
            <a:br>
              <a:rPr lang="en-US" dirty="0"/>
            </a:br>
            <a:r>
              <a:rPr lang="en-US" dirty="0"/>
              <a:t>FUNCTION Enqueue(Item)</a:t>
            </a:r>
            <a:br>
              <a:rPr lang="en-US" dirty="0"/>
            </a:br>
            <a:r>
              <a:rPr lang="en-US" dirty="0"/>
              <a:t>Add Item at Rear</a:t>
            </a:r>
            <a:br>
              <a:rPr lang="en-US" dirty="0"/>
            </a:br>
            <a:r>
              <a:rPr lang="en-US" dirty="0"/>
              <a:t>END FUNCTION</a:t>
            </a:r>
            <a:br>
              <a:rPr lang="en-US" dirty="0"/>
            </a:br>
            <a:br>
              <a:rPr lang="en-US" dirty="0"/>
            </a:br>
            <a:r>
              <a:rPr lang="en-US" dirty="0" err="1"/>
              <a:t>FUNCTION</a:t>
            </a:r>
            <a:r>
              <a:rPr lang="en-US" dirty="0"/>
              <a:t> Dequeue()</a:t>
            </a:r>
            <a:br>
              <a:rPr lang="en-US" dirty="0"/>
            </a:br>
            <a:r>
              <a:rPr lang="en-US" dirty="0"/>
              <a:t>IF Queue is Empty THEN</a:t>
            </a:r>
            <a:br>
              <a:rPr lang="en-US" dirty="0"/>
            </a:br>
            <a:r>
              <a:rPr lang="en-US" dirty="0"/>
              <a:t>PRINT "Queue Underflow"</a:t>
            </a:r>
            <a:br>
              <a:rPr lang="en-US" dirty="0"/>
            </a:br>
            <a:r>
              <a:rPr lang="en-US" dirty="0"/>
              <a:t>ELSE</a:t>
            </a:r>
            <a:br>
              <a:rPr lang="en-US" dirty="0"/>
            </a:br>
            <a:r>
              <a:rPr lang="en-US" dirty="0"/>
              <a:t>Remove and Return Front Item</a:t>
            </a:r>
            <a:br>
              <a:rPr lang="en-US" dirty="0"/>
            </a:br>
            <a:r>
              <a:rPr lang="en-US" dirty="0"/>
              <a:t>END IF</a:t>
            </a:r>
            <a:br>
              <a:rPr lang="en-US" dirty="0"/>
            </a:br>
            <a:r>
              <a:rPr lang="en-US" dirty="0"/>
              <a:t>END FUNCTION</a:t>
            </a:r>
          </a:p>
        </p:txBody>
      </p:sp>
      <p:sp>
        <p:nvSpPr>
          <p:cNvPr id="4" name="Date Placeholder 3">
            <a:extLst>
              <a:ext uri="{FF2B5EF4-FFF2-40B4-BE49-F238E27FC236}">
                <a16:creationId xmlns:a16="http://schemas.microsoft.com/office/drawing/2014/main" id="{5E59121C-CBE7-D79C-BB60-E0F8806F23F2}"/>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05A229BF-768F-A764-A107-3040A61F6056}"/>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1F11743B-A594-C55E-9A5C-1662B89FCE94}"/>
              </a:ext>
            </a:extLst>
          </p:cNvPr>
          <p:cNvSpPr>
            <a:spLocks noGrp="1"/>
          </p:cNvSpPr>
          <p:nvPr>
            <p:ph type="sldNum" sz="quarter" idx="12"/>
          </p:nvPr>
        </p:nvSpPr>
        <p:spPr/>
        <p:txBody>
          <a:bodyPr/>
          <a:lstStyle/>
          <a:p>
            <a:fld id="{2851580B-532C-46DD-8981-D1006AF55002}" type="slidenum">
              <a:rPr lang="en-GB" smtClean="0"/>
              <a:t>14</a:t>
            </a:fld>
            <a:endParaRPr lang="en-GB"/>
          </a:p>
        </p:txBody>
      </p:sp>
    </p:spTree>
    <p:extLst>
      <p:ext uri="{BB962C8B-B14F-4D97-AF65-F5344CB8AC3E}">
        <p14:creationId xmlns:p14="http://schemas.microsoft.com/office/powerpoint/2010/main" val="605511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29044-9C0D-CA7B-52C7-B812BCB209B7}"/>
              </a:ext>
            </a:extLst>
          </p:cNvPr>
          <p:cNvSpPr>
            <a:spLocks noGrp="1"/>
          </p:cNvSpPr>
          <p:nvPr>
            <p:ph type="title"/>
          </p:nvPr>
        </p:nvSpPr>
        <p:spPr/>
        <p:txBody>
          <a:bodyPr/>
          <a:lstStyle/>
          <a:p>
            <a:r>
              <a:rPr lang="en-US" dirty="0" err="1"/>
              <a:t>Cont</a:t>
            </a:r>
            <a:r>
              <a:rPr lang="en-US" dirty="0"/>
              <a:t>…</a:t>
            </a:r>
          </a:p>
        </p:txBody>
      </p:sp>
      <p:sp>
        <p:nvSpPr>
          <p:cNvPr id="3" name="Content Placeholder 2">
            <a:extLst>
              <a:ext uri="{FF2B5EF4-FFF2-40B4-BE49-F238E27FC236}">
                <a16:creationId xmlns:a16="http://schemas.microsoft.com/office/drawing/2014/main" id="{F1F7A2F4-6640-5D4D-EE1D-9CC3F1731A5E}"/>
              </a:ext>
            </a:extLst>
          </p:cNvPr>
          <p:cNvSpPr>
            <a:spLocks noGrp="1"/>
          </p:cNvSpPr>
          <p:nvPr>
            <p:ph idx="1"/>
          </p:nvPr>
        </p:nvSpPr>
        <p:spPr/>
        <p:txBody>
          <a:bodyPr>
            <a:normAutofit lnSpcReduction="10000"/>
          </a:bodyPr>
          <a:lstStyle/>
          <a:p>
            <a:r>
              <a:rPr lang="en-US" dirty="0"/>
              <a:t>FUNCTION Peek()</a:t>
            </a:r>
            <a:br>
              <a:rPr lang="en-US" dirty="0"/>
            </a:br>
            <a:r>
              <a:rPr lang="en-US" dirty="0"/>
              <a:t>Return Front Item</a:t>
            </a:r>
            <a:br>
              <a:rPr lang="en-US" dirty="0"/>
            </a:br>
            <a:r>
              <a:rPr lang="en-US" dirty="0"/>
              <a:t>END FUNCTION</a:t>
            </a:r>
            <a:br>
              <a:rPr lang="en-US" dirty="0"/>
            </a:br>
            <a:br>
              <a:rPr lang="en-US" dirty="0"/>
            </a:br>
            <a:r>
              <a:rPr lang="en-US" dirty="0" err="1"/>
              <a:t>FUNCTION</a:t>
            </a:r>
            <a:r>
              <a:rPr lang="en-US" dirty="0"/>
              <a:t> </a:t>
            </a:r>
            <a:r>
              <a:rPr lang="en-US" dirty="0" err="1"/>
              <a:t>IsEmpty</a:t>
            </a:r>
            <a:r>
              <a:rPr lang="en-US" dirty="0"/>
              <a:t>()</a:t>
            </a:r>
            <a:br>
              <a:rPr lang="en-US" dirty="0"/>
            </a:br>
            <a:r>
              <a:rPr lang="en-US" dirty="0"/>
              <a:t>IF Front = NULL THEN</a:t>
            </a:r>
            <a:br>
              <a:rPr lang="en-US" dirty="0"/>
            </a:br>
            <a:r>
              <a:rPr lang="en-US" dirty="0"/>
              <a:t>Return TRUE</a:t>
            </a:r>
            <a:br>
              <a:rPr lang="en-US" dirty="0"/>
            </a:br>
            <a:r>
              <a:rPr lang="en-US" dirty="0"/>
              <a:t>ELSE</a:t>
            </a:r>
            <a:br>
              <a:rPr lang="en-US" dirty="0"/>
            </a:br>
            <a:r>
              <a:rPr lang="en-US" dirty="0"/>
              <a:t>Return FALSE</a:t>
            </a:r>
            <a:br>
              <a:rPr lang="en-US" dirty="0"/>
            </a:br>
            <a:r>
              <a:rPr lang="en-US" dirty="0"/>
              <a:t>END IF</a:t>
            </a:r>
            <a:br>
              <a:rPr lang="en-US" dirty="0"/>
            </a:br>
            <a:r>
              <a:rPr lang="en-US" dirty="0"/>
              <a:t>END FUNCTION</a:t>
            </a:r>
          </a:p>
        </p:txBody>
      </p:sp>
      <p:sp>
        <p:nvSpPr>
          <p:cNvPr id="4" name="Date Placeholder 3">
            <a:extLst>
              <a:ext uri="{FF2B5EF4-FFF2-40B4-BE49-F238E27FC236}">
                <a16:creationId xmlns:a16="http://schemas.microsoft.com/office/drawing/2014/main" id="{8A3CE54E-E747-E2CB-2A4B-9AF213376983}"/>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983B5468-B343-8F2A-A032-8EE843EFB961}"/>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963A71AD-E959-E45D-F05E-9631E069AD80}"/>
              </a:ext>
            </a:extLst>
          </p:cNvPr>
          <p:cNvSpPr>
            <a:spLocks noGrp="1"/>
          </p:cNvSpPr>
          <p:nvPr>
            <p:ph type="sldNum" sz="quarter" idx="12"/>
          </p:nvPr>
        </p:nvSpPr>
        <p:spPr/>
        <p:txBody>
          <a:bodyPr/>
          <a:lstStyle/>
          <a:p>
            <a:fld id="{2851580B-532C-46DD-8981-D1006AF55002}" type="slidenum">
              <a:rPr lang="en-GB" smtClean="0"/>
              <a:t>15</a:t>
            </a:fld>
            <a:endParaRPr lang="en-GB"/>
          </a:p>
        </p:txBody>
      </p:sp>
    </p:spTree>
    <p:extLst>
      <p:ext uri="{BB962C8B-B14F-4D97-AF65-F5344CB8AC3E}">
        <p14:creationId xmlns:p14="http://schemas.microsoft.com/office/powerpoint/2010/main" val="1845554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42C-FD8C-6C38-F990-7BE3E321BF19}"/>
              </a:ext>
            </a:extLst>
          </p:cNvPr>
          <p:cNvSpPr>
            <a:spLocks noGrp="1"/>
          </p:cNvSpPr>
          <p:nvPr>
            <p:ph type="title"/>
          </p:nvPr>
        </p:nvSpPr>
        <p:spPr/>
        <p:txBody>
          <a:bodyPr/>
          <a:lstStyle/>
          <a:p>
            <a:r>
              <a:rPr lang="en-US" dirty="0"/>
              <a:t>C PROGRAM</a:t>
            </a:r>
          </a:p>
        </p:txBody>
      </p:sp>
      <p:sp>
        <p:nvSpPr>
          <p:cNvPr id="3" name="Content Placeholder 2">
            <a:extLst>
              <a:ext uri="{FF2B5EF4-FFF2-40B4-BE49-F238E27FC236}">
                <a16:creationId xmlns:a16="http://schemas.microsoft.com/office/drawing/2014/main" id="{69F65DF9-2CC1-5EFB-D001-A4284B6D06A2}"/>
              </a:ext>
            </a:extLst>
          </p:cNvPr>
          <p:cNvSpPr>
            <a:spLocks noGrp="1"/>
          </p:cNvSpPr>
          <p:nvPr>
            <p:ph idx="1"/>
          </p:nvPr>
        </p:nvSpPr>
        <p:spPr/>
        <p:txBody>
          <a:bodyPr/>
          <a:lstStyle/>
          <a:p>
            <a:r>
              <a:rPr lang="en-US" dirty="0"/>
              <a:t>SEE MANUAL</a:t>
            </a:r>
          </a:p>
        </p:txBody>
      </p:sp>
      <p:sp>
        <p:nvSpPr>
          <p:cNvPr id="4" name="Date Placeholder 3">
            <a:extLst>
              <a:ext uri="{FF2B5EF4-FFF2-40B4-BE49-F238E27FC236}">
                <a16:creationId xmlns:a16="http://schemas.microsoft.com/office/drawing/2014/main" id="{F249A8D0-297C-BB54-8144-71FF9806E71E}"/>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F8D91ED0-FD71-3866-F82A-C106C71B49E6}"/>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03BC12D7-2556-795D-87D2-3C1C273A79AE}"/>
              </a:ext>
            </a:extLst>
          </p:cNvPr>
          <p:cNvSpPr>
            <a:spLocks noGrp="1"/>
          </p:cNvSpPr>
          <p:nvPr>
            <p:ph type="sldNum" sz="quarter" idx="12"/>
          </p:nvPr>
        </p:nvSpPr>
        <p:spPr/>
        <p:txBody>
          <a:bodyPr/>
          <a:lstStyle/>
          <a:p>
            <a:fld id="{2851580B-532C-46DD-8981-D1006AF55002}" type="slidenum">
              <a:rPr lang="en-GB" smtClean="0"/>
              <a:t>16</a:t>
            </a:fld>
            <a:endParaRPr lang="en-GB"/>
          </a:p>
        </p:txBody>
      </p:sp>
    </p:spTree>
    <p:extLst>
      <p:ext uri="{BB962C8B-B14F-4D97-AF65-F5344CB8AC3E}">
        <p14:creationId xmlns:p14="http://schemas.microsoft.com/office/powerpoint/2010/main" val="2369943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CA567-34CB-0A20-01F3-4D567300EF5A}"/>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31EA7EAF-B076-4F23-F675-F705A72BC876}"/>
              </a:ext>
            </a:extLst>
          </p:cNvPr>
          <p:cNvSpPr>
            <a:spLocks noGrp="1"/>
          </p:cNvSpPr>
          <p:nvPr>
            <p:ph idx="1"/>
          </p:nvPr>
        </p:nvSpPr>
        <p:spPr/>
        <p:txBody>
          <a:bodyPr>
            <a:normAutofit fontScale="92500" lnSpcReduction="20000"/>
          </a:bodyPr>
          <a:lstStyle/>
          <a:p>
            <a:r>
              <a:rPr lang="en-US" b="1" dirty="0"/>
              <a:t>Lab Example 2: CPU Process Scheduling (Ready Queue)</a:t>
            </a:r>
          </a:p>
          <a:p>
            <a:r>
              <a:rPr lang="en-US" b="1" dirty="0"/>
              <a:t>Problem:</a:t>
            </a:r>
            <a:br>
              <a:rPr lang="en-US" dirty="0"/>
            </a:br>
            <a:r>
              <a:rPr lang="en-US" dirty="0"/>
              <a:t>Processes waiting for CPU execution are stored in a ready queue.</a:t>
            </a:r>
          </a:p>
          <a:p>
            <a:r>
              <a:rPr lang="en-US" dirty="0"/>
              <a:t>Enqueue:</a:t>
            </a:r>
            <a:br>
              <a:rPr lang="en-US" dirty="0"/>
            </a:br>
            <a:r>
              <a:rPr lang="en-US" dirty="0"/>
              <a:t>P1, P2, P3</a:t>
            </a:r>
            <a:br>
              <a:rPr lang="en-US" dirty="0"/>
            </a:br>
            <a:br>
              <a:rPr lang="en-US" dirty="0"/>
            </a:br>
            <a:r>
              <a:rPr lang="en-US" dirty="0"/>
              <a:t>Ready Queue:</a:t>
            </a:r>
            <a:br>
              <a:rPr lang="en-US" dirty="0"/>
            </a:br>
            <a:r>
              <a:rPr lang="en-US" dirty="0"/>
              <a:t>Front -&gt; P1 P2 P3 &lt;- Rear</a:t>
            </a:r>
            <a:br>
              <a:rPr lang="en-US" dirty="0"/>
            </a:br>
            <a:br>
              <a:rPr lang="en-US" dirty="0"/>
            </a:br>
            <a:r>
              <a:rPr lang="en-US" dirty="0"/>
              <a:t>CPU executes:</a:t>
            </a:r>
            <a:br>
              <a:rPr lang="en-US" dirty="0"/>
            </a:br>
            <a:r>
              <a:rPr lang="en-US" dirty="0"/>
              <a:t>Dequeue P1</a:t>
            </a:r>
          </a:p>
        </p:txBody>
      </p:sp>
      <p:sp>
        <p:nvSpPr>
          <p:cNvPr id="4" name="Date Placeholder 3">
            <a:extLst>
              <a:ext uri="{FF2B5EF4-FFF2-40B4-BE49-F238E27FC236}">
                <a16:creationId xmlns:a16="http://schemas.microsoft.com/office/drawing/2014/main" id="{32CCE869-95A9-8653-7978-EDD8A125FF2D}"/>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06BAAE41-3092-BFF7-B483-0E4E3102A5A2}"/>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2B048F5E-D6F1-8B12-7398-48874E19855B}"/>
              </a:ext>
            </a:extLst>
          </p:cNvPr>
          <p:cNvSpPr>
            <a:spLocks noGrp="1"/>
          </p:cNvSpPr>
          <p:nvPr>
            <p:ph type="sldNum" sz="quarter" idx="12"/>
          </p:nvPr>
        </p:nvSpPr>
        <p:spPr/>
        <p:txBody>
          <a:bodyPr/>
          <a:lstStyle/>
          <a:p>
            <a:fld id="{2851580B-532C-46DD-8981-D1006AF55002}" type="slidenum">
              <a:rPr lang="en-GB" smtClean="0"/>
              <a:t>17</a:t>
            </a:fld>
            <a:endParaRPr lang="en-GB"/>
          </a:p>
        </p:txBody>
      </p:sp>
    </p:spTree>
    <p:extLst>
      <p:ext uri="{BB962C8B-B14F-4D97-AF65-F5344CB8AC3E}">
        <p14:creationId xmlns:p14="http://schemas.microsoft.com/office/powerpoint/2010/main" val="1760026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CA47D-4D4B-E7BF-6B75-CFFFC8844757}"/>
              </a:ext>
            </a:extLst>
          </p:cNvPr>
          <p:cNvSpPr>
            <a:spLocks noGrp="1"/>
          </p:cNvSpPr>
          <p:nvPr>
            <p:ph type="title"/>
          </p:nvPr>
        </p:nvSpPr>
        <p:spPr>
          <a:xfrm>
            <a:off x="2105030" y="568345"/>
            <a:ext cx="6673174" cy="988447"/>
          </a:xfrm>
        </p:spPr>
        <p:txBody>
          <a:bodyPr/>
          <a:lstStyle/>
          <a:p>
            <a:r>
              <a:rPr lang="en-US" dirty="0"/>
              <a:t>Pseudocode</a:t>
            </a:r>
          </a:p>
        </p:txBody>
      </p:sp>
      <p:sp>
        <p:nvSpPr>
          <p:cNvPr id="3" name="Content Placeholder 2">
            <a:extLst>
              <a:ext uri="{FF2B5EF4-FFF2-40B4-BE49-F238E27FC236}">
                <a16:creationId xmlns:a16="http://schemas.microsoft.com/office/drawing/2014/main" id="{2A339CCE-8368-B36A-22ED-605DDD947327}"/>
              </a:ext>
            </a:extLst>
          </p:cNvPr>
          <p:cNvSpPr>
            <a:spLocks noGrp="1"/>
          </p:cNvSpPr>
          <p:nvPr>
            <p:ph idx="1"/>
          </p:nvPr>
        </p:nvSpPr>
        <p:spPr>
          <a:xfrm>
            <a:off x="1331640" y="2420888"/>
            <a:ext cx="7446564" cy="3669016"/>
          </a:xfrm>
        </p:spPr>
        <p:txBody>
          <a:bodyPr>
            <a:noAutofit/>
          </a:bodyPr>
          <a:lstStyle/>
          <a:p>
            <a:r>
              <a:rPr lang="en-US" sz="1600" dirty="0"/>
              <a:t>START</a:t>
            </a:r>
            <a:br>
              <a:rPr lang="en-US" sz="1600" dirty="0"/>
            </a:br>
            <a:br>
              <a:rPr lang="en-US" sz="1600" dirty="0"/>
            </a:br>
            <a:r>
              <a:rPr lang="en-US" sz="1600" dirty="0"/>
              <a:t>CREATE Queue </a:t>
            </a:r>
            <a:r>
              <a:rPr lang="en-US" sz="1600" dirty="0" err="1"/>
              <a:t>ReadyQueue</a:t>
            </a:r>
            <a:br>
              <a:rPr lang="en-US" sz="1600" dirty="0"/>
            </a:br>
            <a:br>
              <a:rPr lang="en-US" sz="1600" dirty="0"/>
            </a:br>
            <a:r>
              <a:rPr lang="en-US" sz="1600" dirty="0"/>
              <a:t>ENQUEUE("P1")</a:t>
            </a:r>
            <a:br>
              <a:rPr lang="en-US" sz="1600" dirty="0"/>
            </a:br>
            <a:r>
              <a:rPr lang="en-US" sz="1600" dirty="0"/>
              <a:t>ENQUEUE("P2")</a:t>
            </a:r>
            <a:br>
              <a:rPr lang="en-US" sz="1600" dirty="0"/>
            </a:br>
            <a:r>
              <a:rPr lang="en-US" sz="1600" dirty="0"/>
              <a:t>ENQUEUE("P3")</a:t>
            </a:r>
            <a:br>
              <a:rPr lang="en-US" sz="1600" dirty="0"/>
            </a:br>
            <a:br>
              <a:rPr lang="en-US" sz="1600" dirty="0"/>
            </a:br>
            <a:r>
              <a:rPr lang="en-US" sz="1600" dirty="0"/>
              <a:t>DISPLAY </a:t>
            </a:r>
            <a:r>
              <a:rPr lang="en-US" sz="1600" dirty="0" err="1"/>
              <a:t>ReadyQueue</a:t>
            </a:r>
            <a:br>
              <a:rPr lang="en-US" sz="1600" dirty="0"/>
            </a:br>
            <a:br>
              <a:rPr lang="en-US" sz="1600" dirty="0"/>
            </a:br>
            <a:r>
              <a:rPr lang="en-US" sz="1600" dirty="0"/>
              <a:t>WHILE </a:t>
            </a:r>
            <a:r>
              <a:rPr lang="en-US" sz="1600" dirty="0" err="1"/>
              <a:t>ReadyQueue</a:t>
            </a:r>
            <a:r>
              <a:rPr lang="en-US" sz="1600" dirty="0"/>
              <a:t> is not EMPTY</a:t>
            </a:r>
            <a:br>
              <a:rPr lang="en-US" sz="1600" dirty="0"/>
            </a:br>
            <a:r>
              <a:rPr lang="en-US" sz="1600" dirty="0" err="1"/>
              <a:t>CurrentProcess</a:t>
            </a:r>
            <a:r>
              <a:rPr lang="en-US" sz="1600" dirty="0"/>
              <a:t> ← DEQUEUE()</a:t>
            </a:r>
            <a:br>
              <a:rPr lang="en-US" sz="1600" dirty="0"/>
            </a:br>
            <a:br>
              <a:rPr lang="en-US" sz="1600" dirty="0"/>
            </a:br>
            <a:endParaRPr lang="en-US" sz="1600" dirty="0"/>
          </a:p>
          <a:p>
            <a:endParaRPr lang="en-US" sz="1200" dirty="0"/>
          </a:p>
        </p:txBody>
      </p:sp>
      <p:sp>
        <p:nvSpPr>
          <p:cNvPr id="4" name="Date Placeholder 3">
            <a:extLst>
              <a:ext uri="{FF2B5EF4-FFF2-40B4-BE49-F238E27FC236}">
                <a16:creationId xmlns:a16="http://schemas.microsoft.com/office/drawing/2014/main" id="{390E70DA-C9DD-AD34-1C0A-7410566BBDE2}"/>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4FF95853-1E23-5684-9E51-22B19EE73ED2}"/>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715B63A5-6883-315E-1261-E25BF626C374}"/>
              </a:ext>
            </a:extLst>
          </p:cNvPr>
          <p:cNvSpPr>
            <a:spLocks noGrp="1"/>
          </p:cNvSpPr>
          <p:nvPr>
            <p:ph type="sldNum" sz="quarter" idx="12"/>
          </p:nvPr>
        </p:nvSpPr>
        <p:spPr/>
        <p:txBody>
          <a:bodyPr/>
          <a:lstStyle/>
          <a:p>
            <a:fld id="{2851580B-532C-46DD-8981-D1006AF55002}" type="slidenum">
              <a:rPr lang="en-GB" smtClean="0"/>
              <a:t>18</a:t>
            </a:fld>
            <a:endParaRPr lang="en-GB"/>
          </a:p>
        </p:txBody>
      </p:sp>
    </p:spTree>
    <p:extLst>
      <p:ext uri="{BB962C8B-B14F-4D97-AF65-F5344CB8AC3E}">
        <p14:creationId xmlns:p14="http://schemas.microsoft.com/office/powerpoint/2010/main" val="3174968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822F-F206-237B-D9EB-85B5557B46B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B95DDA91-6950-09F9-AAC1-F780EDCD0AFF}"/>
              </a:ext>
            </a:extLst>
          </p:cNvPr>
          <p:cNvSpPr>
            <a:spLocks noGrp="1"/>
          </p:cNvSpPr>
          <p:nvPr>
            <p:ph idx="1"/>
          </p:nvPr>
        </p:nvSpPr>
        <p:spPr/>
        <p:txBody>
          <a:bodyPr/>
          <a:lstStyle/>
          <a:p>
            <a:r>
              <a:rPr lang="en-US" dirty="0"/>
              <a:t>PRINT </a:t>
            </a:r>
            <a:r>
              <a:rPr lang="en-US" dirty="0" err="1"/>
              <a:t>CurrentProcess</a:t>
            </a:r>
            <a:r>
              <a:rPr lang="en-US" dirty="0"/>
              <a:t>, " is executing"</a:t>
            </a:r>
            <a:br>
              <a:rPr lang="en-US" dirty="0"/>
            </a:br>
            <a:br>
              <a:rPr lang="en-US" dirty="0"/>
            </a:br>
            <a:r>
              <a:rPr lang="en-US" dirty="0"/>
              <a:t>EXECUTE </a:t>
            </a:r>
            <a:r>
              <a:rPr lang="en-US" dirty="0" err="1"/>
              <a:t>CurrentProcess</a:t>
            </a:r>
            <a:br>
              <a:rPr lang="en-US" dirty="0"/>
            </a:br>
            <a:br>
              <a:rPr lang="en-US" dirty="0"/>
            </a:br>
            <a:r>
              <a:rPr lang="en-US" dirty="0"/>
              <a:t>PRINT </a:t>
            </a:r>
            <a:r>
              <a:rPr lang="en-US" dirty="0" err="1"/>
              <a:t>CurrentProcess</a:t>
            </a:r>
            <a:r>
              <a:rPr lang="en-US" dirty="0"/>
              <a:t>, " has completed"</a:t>
            </a:r>
            <a:br>
              <a:rPr lang="en-US" dirty="0"/>
            </a:br>
            <a:r>
              <a:rPr lang="en-US" dirty="0"/>
              <a:t>END WHILE</a:t>
            </a:r>
            <a:br>
              <a:rPr lang="en-US" dirty="0"/>
            </a:br>
            <a:br>
              <a:rPr lang="en-US" dirty="0"/>
            </a:br>
            <a:r>
              <a:rPr lang="en-US" dirty="0"/>
              <a:t>STOP</a:t>
            </a:r>
          </a:p>
        </p:txBody>
      </p:sp>
      <p:sp>
        <p:nvSpPr>
          <p:cNvPr id="4" name="Date Placeholder 3">
            <a:extLst>
              <a:ext uri="{FF2B5EF4-FFF2-40B4-BE49-F238E27FC236}">
                <a16:creationId xmlns:a16="http://schemas.microsoft.com/office/drawing/2014/main" id="{93936858-C4CF-08F0-3F12-7801E38772B0}"/>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2B1D15CB-F67D-E6E2-70FE-E7BEE8418355}"/>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15237CFE-58BA-11D2-4BDA-158114837F13}"/>
              </a:ext>
            </a:extLst>
          </p:cNvPr>
          <p:cNvSpPr>
            <a:spLocks noGrp="1"/>
          </p:cNvSpPr>
          <p:nvPr>
            <p:ph type="sldNum" sz="quarter" idx="12"/>
          </p:nvPr>
        </p:nvSpPr>
        <p:spPr/>
        <p:txBody>
          <a:bodyPr/>
          <a:lstStyle/>
          <a:p>
            <a:fld id="{2851580B-532C-46DD-8981-D1006AF55002}" type="slidenum">
              <a:rPr lang="en-GB" smtClean="0"/>
              <a:t>19</a:t>
            </a:fld>
            <a:endParaRPr lang="en-GB"/>
          </a:p>
        </p:txBody>
      </p:sp>
    </p:spTree>
    <p:extLst>
      <p:ext uri="{BB962C8B-B14F-4D97-AF65-F5344CB8AC3E}">
        <p14:creationId xmlns:p14="http://schemas.microsoft.com/office/powerpoint/2010/main" val="38504169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8619B-5E0D-62B7-4C5F-8CFD2F513674}"/>
              </a:ext>
            </a:extLst>
          </p:cNvPr>
          <p:cNvSpPr>
            <a:spLocks noGrp="1"/>
          </p:cNvSpPr>
          <p:nvPr>
            <p:ph type="title"/>
          </p:nvPr>
        </p:nvSpPr>
        <p:spPr/>
        <p:txBody>
          <a:bodyPr/>
          <a:lstStyle/>
          <a:p>
            <a:r>
              <a:rPr lang="en-US" dirty="0"/>
              <a:t>C PROGRAM</a:t>
            </a:r>
          </a:p>
        </p:txBody>
      </p:sp>
      <p:sp>
        <p:nvSpPr>
          <p:cNvPr id="3" name="Content Placeholder 2">
            <a:extLst>
              <a:ext uri="{FF2B5EF4-FFF2-40B4-BE49-F238E27FC236}">
                <a16:creationId xmlns:a16="http://schemas.microsoft.com/office/drawing/2014/main" id="{53220F0A-1E1B-4B85-7493-B997A2BA0FC8}"/>
              </a:ext>
            </a:extLst>
          </p:cNvPr>
          <p:cNvSpPr>
            <a:spLocks noGrp="1"/>
          </p:cNvSpPr>
          <p:nvPr>
            <p:ph idx="1"/>
          </p:nvPr>
        </p:nvSpPr>
        <p:spPr/>
        <p:txBody>
          <a:bodyPr/>
          <a:lstStyle/>
          <a:p>
            <a:r>
              <a:rPr lang="en-US" dirty="0"/>
              <a:t>REFER TO THE MANUAL</a:t>
            </a:r>
          </a:p>
        </p:txBody>
      </p:sp>
      <p:sp>
        <p:nvSpPr>
          <p:cNvPr id="4" name="Date Placeholder 3">
            <a:extLst>
              <a:ext uri="{FF2B5EF4-FFF2-40B4-BE49-F238E27FC236}">
                <a16:creationId xmlns:a16="http://schemas.microsoft.com/office/drawing/2014/main" id="{F22622B9-E0A8-3378-1873-C82C7622CF95}"/>
              </a:ext>
            </a:extLst>
          </p:cNvPr>
          <p:cNvSpPr>
            <a:spLocks noGrp="1"/>
          </p:cNvSpPr>
          <p:nvPr>
            <p:ph type="dt" sz="half" idx="10"/>
          </p:nvPr>
        </p:nvSpPr>
        <p:spPr/>
        <p:txBody>
          <a:bodyPr/>
          <a:lstStyle/>
          <a:p>
            <a:fld id="{05AD639C-0051-418D-8965-FC1887BEFD88}" type="datetime1">
              <a:rPr lang="en-US" smtClean="0"/>
              <a:t>6/9/2026</a:t>
            </a:fld>
            <a:endParaRPr lang="en-GB"/>
          </a:p>
        </p:txBody>
      </p:sp>
      <p:sp>
        <p:nvSpPr>
          <p:cNvPr id="5" name="Footer Placeholder 4">
            <a:extLst>
              <a:ext uri="{FF2B5EF4-FFF2-40B4-BE49-F238E27FC236}">
                <a16:creationId xmlns:a16="http://schemas.microsoft.com/office/drawing/2014/main" id="{34491664-2C7A-9258-49A1-2187CF8DDCF2}"/>
              </a:ext>
            </a:extLst>
          </p:cNvPr>
          <p:cNvSpPr>
            <a:spLocks noGrp="1"/>
          </p:cNvSpPr>
          <p:nvPr>
            <p:ph type="ftr" sz="quarter" idx="11"/>
          </p:nvPr>
        </p:nvSpPr>
        <p:spPr/>
        <p:txBody>
          <a:bodyPr/>
          <a:lstStyle/>
          <a:p>
            <a:r>
              <a:rPr lang="en-GB"/>
              <a:t>Data Structures &amp; Algorithms </a:t>
            </a:r>
            <a:endParaRPr lang="en-GB" dirty="0"/>
          </a:p>
        </p:txBody>
      </p:sp>
      <p:sp>
        <p:nvSpPr>
          <p:cNvPr id="6" name="Slide Number Placeholder 5">
            <a:extLst>
              <a:ext uri="{FF2B5EF4-FFF2-40B4-BE49-F238E27FC236}">
                <a16:creationId xmlns:a16="http://schemas.microsoft.com/office/drawing/2014/main" id="{244B1D2C-8760-0E2D-722B-B3ADAA66445A}"/>
              </a:ext>
            </a:extLst>
          </p:cNvPr>
          <p:cNvSpPr>
            <a:spLocks noGrp="1"/>
          </p:cNvSpPr>
          <p:nvPr>
            <p:ph type="sldNum" sz="quarter" idx="12"/>
          </p:nvPr>
        </p:nvSpPr>
        <p:spPr/>
        <p:txBody>
          <a:bodyPr/>
          <a:lstStyle/>
          <a:p>
            <a:fld id="{2851580B-532C-46DD-8981-D1006AF55002}" type="slidenum">
              <a:rPr lang="en-GB" smtClean="0"/>
              <a:t>20</a:t>
            </a:fld>
            <a:endParaRPr lang="en-GB"/>
          </a:p>
        </p:txBody>
      </p:sp>
    </p:spTree>
    <p:extLst>
      <p:ext uri="{BB962C8B-B14F-4D97-AF65-F5344CB8AC3E}">
        <p14:creationId xmlns:p14="http://schemas.microsoft.com/office/powerpoint/2010/main" val="2501024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End…</a:t>
            </a:r>
          </a:p>
        </p:txBody>
      </p:sp>
      <p:sp>
        <p:nvSpPr>
          <p:cNvPr id="6" name="Content Placeholder 5"/>
          <p:cNvSpPr>
            <a:spLocks noGrp="1"/>
          </p:cNvSpPr>
          <p:nvPr>
            <p:ph idx="1"/>
          </p:nvPr>
        </p:nvSpPr>
        <p:spPr/>
        <p:txBody>
          <a:bodyPr>
            <a:normAutofit/>
          </a:bodyPr>
          <a:lstStyle/>
          <a:p>
            <a:r>
              <a:rPr lang="en-GB" sz="8800" dirty="0"/>
              <a:t>The end</a:t>
            </a:r>
          </a:p>
        </p:txBody>
      </p:sp>
      <p:sp>
        <p:nvSpPr>
          <p:cNvPr id="3" name="Date Placeholder 2"/>
          <p:cNvSpPr>
            <a:spLocks noGrp="1"/>
          </p:cNvSpPr>
          <p:nvPr>
            <p:ph type="dt" sz="half" idx="10"/>
          </p:nvPr>
        </p:nvSpPr>
        <p:spPr/>
        <p:txBody>
          <a:bodyPr/>
          <a:lstStyle/>
          <a:p>
            <a:fld id="{04FC4811-415E-4D74-8A1F-DE12BE7DF5BE}" type="datetime1">
              <a:rPr lang="en-US" smtClean="0"/>
              <a:t>6/8/2026</a:t>
            </a:fld>
            <a:endParaRPr lang="en-GB"/>
          </a:p>
        </p:txBody>
      </p:sp>
      <p:sp>
        <p:nvSpPr>
          <p:cNvPr id="4" name="Footer Placeholder 3"/>
          <p:cNvSpPr>
            <a:spLocks noGrp="1"/>
          </p:cNvSpPr>
          <p:nvPr>
            <p:ph type="ftr" sz="quarter" idx="11"/>
          </p:nvPr>
        </p:nvSpPr>
        <p:spPr/>
        <p:txBody>
          <a:bodyPr/>
          <a:lstStyle/>
          <a:p>
            <a:r>
              <a:rPr lang="en-GB"/>
              <a:t>Data Structures &amp; Algorithms </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t>21</a:t>
            </a:fld>
            <a:endParaRPr lang="en-GB"/>
          </a:p>
        </p:txBody>
      </p:sp>
    </p:spTree>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Feathered</Template>
  <TotalTime>1451</TotalTime>
  <Words>1181</Words>
  <Application>Microsoft Office PowerPoint</Application>
  <PresentationFormat>On-screen Show (4:3)</PresentationFormat>
  <Paragraphs>152</Paragraphs>
  <Slides>21</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Century Schoolbook</vt:lpstr>
      <vt:lpstr>Corbel</vt:lpstr>
      <vt:lpstr>Wingdings 2</vt:lpstr>
      <vt:lpstr>Feathered</vt:lpstr>
      <vt:lpstr>Abstract data types</vt:lpstr>
      <vt:lpstr>Continuation..</vt:lpstr>
      <vt:lpstr>PowerPoint Presentation</vt:lpstr>
      <vt:lpstr>PowerPoint Presentation</vt:lpstr>
      <vt:lpstr>PowerPoint Presentation</vt:lpstr>
      <vt:lpstr>The Queue as an Abstract Data Type</vt:lpstr>
      <vt:lpstr>PowerPoint Presentation</vt:lpstr>
      <vt:lpstr>C Implementation of Queues</vt:lpstr>
      <vt:lpstr>Implementing a queue..</vt:lpstr>
      <vt:lpstr>Queue..</vt:lpstr>
      <vt:lpstr>Operations performed</vt:lpstr>
      <vt:lpstr>LAB – QUEUE MPLEMENTATON</vt:lpstr>
      <vt:lpstr>Pseudocode</vt:lpstr>
      <vt:lpstr>Generic Queue ADT Pseudocode</vt:lpstr>
      <vt:lpstr>Cont…</vt:lpstr>
      <vt:lpstr>C PROGRAM</vt:lpstr>
      <vt:lpstr>Example 2</vt:lpstr>
      <vt:lpstr>Pseudocode</vt:lpstr>
      <vt:lpstr>Cont..</vt:lpstr>
      <vt:lpstr>C PROGRAM</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nyambura</dc:creator>
  <cp:lastModifiedBy>hp</cp:lastModifiedBy>
  <cp:revision>63</cp:revision>
  <dcterms:created xsi:type="dcterms:W3CDTF">2009-09-09T17:37:00Z</dcterms:created>
  <dcterms:modified xsi:type="dcterms:W3CDTF">2026-06-09T10:00:43Z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D00125C2421144B082E8272C7F28C5EF</vt:lpwstr>
  </property>
  <property fmtid="{D5CDD505-2E9C-101B-9397-08002B2CF9AE}" pid="3" name="KSOProductBuildVer">
    <vt:lpwstr>1033-11.2.0.11537</vt:lpwstr>
  </property>
</Properties>
</file>