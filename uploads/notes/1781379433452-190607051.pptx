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39"/>
  </p:handoutMasterIdLst>
  <p:sldIdLst>
    <p:sldId id="256" r:id="rId2"/>
    <p:sldId id="478" r:id="rId3"/>
    <p:sldId id="479" r:id="rId4"/>
    <p:sldId id="480" r:id="rId5"/>
    <p:sldId id="481" r:id="rId6"/>
    <p:sldId id="482" r:id="rId7"/>
    <p:sldId id="483" r:id="rId8"/>
    <p:sldId id="484" r:id="rId9"/>
    <p:sldId id="485" r:id="rId10"/>
    <p:sldId id="499" r:id="rId11"/>
    <p:sldId id="500" r:id="rId12"/>
    <p:sldId id="501" r:id="rId13"/>
    <p:sldId id="486" r:id="rId14"/>
    <p:sldId id="502" r:id="rId15"/>
    <p:sldId id="506" r:id="rId16"/>
    <p:sldId id="507" r:id="rId17"/>
    <p:sldId id="508" r:id="rId18"/>
    <p:sldId id="509" r:id="rId19"/>
    <p:sldId id="510" r:id="rId20"/>
    <p:sldId id="487" r:id="rId21"/>
    <p:sldId id="488" r:id="rId22"/>
    <p:sldId id="489" r:id="rId23"/>
    <p:sldId id="514" r:id="rId24"/>
    <p:sldId id="511" r:id="rId25"/>
    <p:sldId id="513" r:id="rId26"/>
    <p:sldId id="503" r:id="rId27"/>
    <p:sldId id="504" r:id="rId28"/>
    <p:sldId id="490" r:id="rId29"/>
    <p:sldId id="491" r:id="rId30"/>
    <p:sldId id="492" r:id="rId31"/>
    <p:sldId id="493" r:id="rId32"/>
    <p:sldId id="494" r:id="rId33"/>
    <p:sldId id="495" r:id="rId34"/>
    <p:sldId id="496" r:id="rId35"/>
    <p:sldId id="497" r:id="rId36"/>
    <p:sldId id="498" r:id="rId37"/>
  </p:sldIdLst>
  <p:sldSz cx="9144000" cy="6858000" type="screen4x3"/>
  <p:notesSz cx="6640513" cy="9904413"/>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24" autoAdjust="0"/>
  </p:normalViewPr>
  <p:slideViewPr>
    <p:cSldViewPr>
      <p:cViewPr varScale="1">
        <p:scale>
          <a:sx n="62" d="100"/>
          <a:sy n="62" d="100"/>
        </p:scale>
        <p:origin x="143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878138" cy="495300"/>
          </a:xfrm>
          <a:prstGeom prst="rect">
            <a:avLst/>
          </a:prstGeom>
          <a:noFill/>
          <a:ln w="9525">
            <a:noFill/>
            <a:miter lim="800000"/>
          </a:ln>
          <a:effectLst/>
        </p:spPr>
        <p:txBody>
          <a:bodyPr vert="horz" wrap="square" lIns="92976" tIns="46488" rIns="92976" bIns="46488" numCol="1" anchor="t" anchorCtr="0" compatLnSpc="1"/>
          <a:lstStyle>
            <a:lvl1pPr algn="l" defTabSz="930275">
              <a:defRPr sz="1200" smtClean="0">
                <a:latin typeface="Times New Roman" panose="02020603050405020304" pitchFamily="18" charset="0"/>
              </a:defRPr>
            </a:lvl1pPr>
          </a:lstStyle>
          <a:p>
            <a:pPr>
              <a:defRPr/>
            </a:pPr>
            <a:endParaRPr lang="en-GB"/>
          </a:p>
        </p:txBody>
      </p:sp>
      <p:sp>
        <p:nvSpPr>
          <p:cNvPr id="43011" name="Rectangle 3"/>
          <p:cNvSpPr>
            <a:spLocks noGrp="1" noChangeArrowheads="1"/>
          </p:cNvSpPr>
          <p:nvPr>
            <p:ph type="dt" sz="quarter" idx="1"/>
          </p:nvPr>
        </p:nvSpPr>
        <p:spPr bwMode="auto">
          <a:xfrm>
            <a:off x="3762375" y="0"/>
            <a:ext cx="2878138" cy="495300"/>
          </a:xfrm>
          <a:prstGeom prst="rect">
            <a:avLst/>
          </a:prstGeom>
          <a:noFill/>
          <a:ln w="9525">
            <a:noFill/>
            <a:miter lim="800000"/>
          </a:ln>
          <a:effectLst/>
        </p:spPr>
        <p:txBody>
          <a:bodyPr vert="horz" wrap="square" lIns="92976" tIns="46488" rIns="92976" bIns="46488" numCol="1" anchor="t" anchorCtr="0" compatLnSpc="1"/>
          <a:lstStyle>
            <a:lvl1pPr algn="r" defTabSz="930275">
              <a:defRPr sz="1200" smtClean="0">
                <a:latin typeface="Times New Roman" panose="02020603050405020304" pitchFamily="18" charset="0"/>
              </a:defRPr>
            </a:lvl1pPr>
          </a:lstStyle>
          <a:p>
            <a:pPr>
              <a:defRPr/>
            </a:pPr>
            <a:endParaRPr lang="en-GB"/>
          </a:p>
        </p:txBody>
      </p:sp>
      <p:sp>
        <p:nvSpPr>
          <p:cNvPr id="43012" name="Rectangle 4"/>
          <p:cNvSpPr>
            <a:spLocks noGrp="1" noChangeArrowheads="1"/>
          </p:cNvSpPr>
          <p:nvPr>
            <p:ph type="ftr" sz="quarter" idx="2"/>
          </p:nvPr>
        </p:nvSpPr>
        <p:spPr bwMode="auto">
          <a:xfrm>
            <a:off x="0" y="9409113"/>
            <a:ext cx="2878138" cy="495300"/>
          </a:xfrm>
          <a:prstGeom prst="rect">
            <a:avLst/>
          </a:prstGeom>
          <a:noFill/>
          <a:ln w="9525">
            <a:noFill/>
            <a:miter lim="800000"/>
          </a:ln>
          <a:effectLst/>
        </p:spPr>
        <p:txBody>
          <a:bodyPr vert="horz" wrap="square" lIns="92976" tIns="46488" rIns="92976" bIns="46488" numCol="1" anchor="b" anchorCtr="0" compatLnSpc="1"/>
          <a:lstStyle>
            <a:lvl1pPr algn="l" defTabSz="930275">
              <a:defRPr sz="1200" smtClean="0">
                <a:latin typeface="Times New Roman" panose="02020603050405020304" pitchFamily="18" charset="0"/>
              </a:defRPr>
            </a:lvl1pPr>
          </a:lstStyle>
          <a:p>
            <a:pPr>
              <a:defRPr/>
            </a:pPr>
            <a:endParaRPr lang="en-GB"/>
          </a:p>
        </p:txBody>
      </p:sp>
      <p:sp>
        <p:nvSpPr>
          <p:cNvPr id="43013" name="Rectangle 5"/>
          <p:cNvSpPr>
            <a:spLocks noGrp="1" noChangeArrowheads="1"/>
          </p:cNvSpPr>
          <p:nvPr>
            <p:ph type="sldNum" sz="quarter" idx="3"/>
          </p:nvPr>
        </p:nvSpPr>
        <p:spPr bwMode="auto">
          <a:xfrm>
            <a:off x="3762375" y="9409113"/>
            <a:ext cx="2878138" cy="495300"/>
          </a:xfrm>
          <a:prstGeom prst="rect">
            <a:avLst/>
          </a:prstGeom>
          <a:noFill/>
          <a:ln w="9525">
            <a:noFill/>
            <a:miter lim="800000"/>
          </a:ln>
          <a:effectLst/>
        </p:spPr>
        <p:txBody>
          <a:bodyPr vert="horz" wrap="square" lIns="92976" tIns="46488" rIns="92976" bIns="46488" numCol="1" anchor="b" anchorCtr="0" compatLnSpc="1"/>
          <a:lstStyle>
            <a:lvl1pPr algn="r" defTabSz="930275">
              <a:defRPr sz="1200" smtClean="0">
                <a:latin typeface="Times New Roman" panose="02020603050405020304" pitchFamily="18" charset="0"/>
              </a:defRPr>
            </a:lvl1pPr>
          </a:lstStyle>
          <a:p>
            <a:pPr>
              <a:defRPr/>
            </a:pPr>
            <a:fld id="{55FCABFC-5645-4A33-9CA0-9E251DF3E290}" type="slidenum">
              <a:rPr lang="en-GB"/>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11475" cy="533400"/>
          </a:xfrm>
          <a:prstGeom prst="rect">
            <a:avLst/>
          </a:prstGeom>
          <a:noFill/>
          <a:ln w="9525">
            <a:noFill/>
            <a:miter lim="800000"/>
          </a:ln>
          <a:effectLst/>
        </p:spPr>
        <p:txBody>
          <a:bodyPr vert="horz" wrap="square" lIns="91440" tIns="45720" rIns="91440" bIns="45720" numCol="1" anchor="t" anchorCtr="0" compatLnSpc="1"/>
          <a:lstStyle>
            <a:lvl1pPr algn="l">
              <a:defRPr sz="1200" smtClean="0">
                <a:latin typeface="Times New Roman" panose="02020603050405020304" pitchFamily="18" charset="0"/>
              </a:defRPr>
            </a:lvl1pPr>
          </a:lstStyle>
          <a:p>
            <a:pPr>
              <a:defRPr/>
            </a:pPr>
            <a:endParaRPr lang="en-US"/>
          </a:p>
        </p:txBody>
      </p:sp>
      <p:sp>
        <p:nvSpPr>
          <p:cNvPr id="48131" name="Rectangle 3"/>
          <p:cNvSpPr>
            <a:spLocks noGrp="1" noChangeArrowheads="1"/>
          </p:cNvSpPr>
          <p:nvPr>
            <p:ph type="dt" idx="1"/>
          </p:nvPr>
        </p:nvSpPr>
        <p:spPr bwMode="auto">
          <a:xfrm>
            <a:off x="3730625" y="0"/>
            <a:ext cx="2911475" cy="5334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Times New Roman" panose="02020603050405020304" pitchFamily="18" charset="0"/>
              </a:defRPr>
            </a:lvl1pPr>
          </a:lstStyle>
          <a:p>
            <a:pPr>
              <a:defRPr/>
            </a:pPr>
            <a:endParaRPr lang="en-US"/>
          </a:p>
        </p:txBody>
      </p:sp>
      <p:sp>
        <p:nvSpPr>
          <p:cNvPr id="32772" name="Rectangle 4"/>
          <p:cNvSpPr>
            <a:spLocks noGrp="1" noRot="1" noChangeAspect="1" noChangeArrowheads="1" noTextEdit="1"/>
          </p:cNvSpPr>
          <p:nvPr>
            <p:ph type="sldImg" idx="2"/>
          </p:nvPr>
        </p:nvSpPr>
        <p:spPr bwMode="auto">
          <a:xfrm>
            <a:off x="833438" y="760413"/>
            <a:ext cx="4976812" cy="3732212"/>
          </a:xfrm>
          <a:prstGeom prst="rect">
            <a:avLst/>
          </a:prstGeom>
          <a:noFill/>
          <a:ln w="9525">
            <a:solidFill>
              <a:srgbClr val="000000"/>
            </a:solidFill>
            <a:miter lim="800000"/>
          </a:ln>
        </p:spPr>
      </p:sp>
      <p:sp>
        <p:nvSpPr>
          <p:cNvPr id="48133" name="Rectangle 5"/>
          <p:cNvSpPr>
            <a:spLocks noGrp="1" noChangeArrowheads="1"/>
          </p:cNvSpPr>
          <p:nvPr>
            <p:ph type="body" sz="quarter" idx="3"/>
          </p:nvPr>
        </p:nvSpPr>
        <p:spPr bwMode="auto">
          <a:xfrm>
            <a:off x="895350" y="4721225"/>
            <a:ext cx="4851400" cy="44180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9444038"/>
            <a:ext cx="2911475" cy="455612"/>
          </a:xfrm>
          <a:prstGeom prst="rect">
            <a:avLst/>
          </a:prstGeom>
          <a:noFill/>
          <a:ln w="9525">
            <a:noFill/>
            <a:miter lim="800000"/>
          </a:ln>
          <a:effectLst/>
        </p:spPr>
        <p:txBody>
          <a:bodyPr vert="horz" wrap="square" lIns="91440" tIns="45720" rIns="91440" bIns="45720" numCol="1" anchor="b" anchorCtr="0" compatLnSpc="1"/>
          <a:lstStyle>
            <a:lvl1pPr algn="l">
              <a:defRPr sz="1200" smtClean="0">
                <a:latin typeface="Times New Roman" panose="02020603050405020304" pitchFamily="18" charset="0"/>
              </a:defRPr>
            </a:lvl1pPr>
          </a:lstStyle>
          <a:p>
            <a:pPr>
              <a:defRPr/>
            </a:pPr>
            <a:endParaRPr lang="en-US"/>
          </a:p>
        </p:txBody>
      </p:sp>
      <p:sp>
        <p:nvSpPr>
          <p:cNvPr id="48135" name="Rectangle 7"/>
          <p:cNvSpPr>
            <a:spLocks noGrp="1" noChangeArrowheads="1"/>
          </p:cNvSpPr>
          <p:nvPr>
            <p:ph type="sldNum" sz="quarter" idx="5"/>
          </p:nvPr>
        </p:nvSpPr>
        <p:spPr bwMode="auto">
          <a:xfrm>
            <a:off x="3730625" y="9444038"/>
            <a:ext cx="2911475" cy="455612"/>
          </a:xfrm>
          <a:prstGeom prst="rect">
            <a:avLst/>
          </a:prstGeom>
          <a:noFill/>
          <a:ln w="9525">
            <a:noFill/>
            <a:miter lim="800000"/>
          </a:ln>
          <a:effectLst/>
        </p:spPr>
        <p:txBody>
          <a:bodyPr vert="horz" wrap="square" lIns="91440" tIns="45720" rIns="91440" bIns="45720" numCol="1" anchor="b" anchorCtr="0" compatLnSpc="1"/>
          <a:lstStyle>
            <a:lvl1pPr algn="r">
              <a:defRPr sz="1200" smtClean="0">
                <a:latin typeface="Times New Roman" panose="02020603050405020304" pitchFamily="18" charset="0"/>
              </a:defRPr>
            </a:lvl1pPr>
          </a:lstStyle>
          <a:p>
            <a:pPr>
              <a:defRPr/>
            </a:pPr>
            <a:fld id="{14214EE8-D8B5-4638-B2E2-8E3851914AEC}"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58A9531A-A635-457C-AF05-FB1A19399683}" type="slidenum">
              <a:rPr lang="en-US"/>
              <a:t>1</a:t>
            </a:fld>
            <a:endParaRPr lang="en-US" dirty="0"/>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ln>
        </p:spPr>
      </p:sp>
      <p:sp>
        <p:nvSpPr>
          <p:cNvPr id="2969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29700" name="Slide Number Placeholder 3"/>
          <p:cNvSpPr>
            <a:spLocks noGrp="1"/>
          </p:cNvSpPr>
          <p:nvPr>
            <p:ph type="sldNum" sz="quarter" idx="5"/>
          </p:nvPr>
        </p:nvSpPr>
        <p:spPr bwMode="auto">
          <a:noFill/>
          <a:ln>
            <a:miter lim="800000"/>
          </a:ln>
        </p:spPr>
        <p:txBody>
          <a:bodyPr wrap="square" numCol="1" anchorCtr="0" compatLnSpc="1"/>
          <a:lstStyle/>
          <a:p>
            <a:fld id="{CC178237-EA6F-45C7-AEC4-65709CEB009F}" type="slidenum">
              <a:rPr lang="en-GB" smtClean="0"/>
              <a:t>2</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ln>
        </p:spPr>
      </p:sp>
      <p:sp>
        <p:nvSpPr>
          <p:cNvPr id="3072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0724" name="Slide Number Placeholder 3"/>
          <p:cNvSpPr>
            <a:spLocks noGrp="1"/>
          </p:cNvSpPr>
          <p:nvPr>
            <p:ph type="sldNum" sz="quarter" idx="5"/>
          </p:nvPr>
        </p:nvSpPr>
        <p:spPr bwMode="auto">
          <a:noFill/>
          <a:ln>
            <a:miter lim="800000"/>
          </a:ln>
        </p:spPr>
        <p:txBody>
          <a:bodyPr wrap="square" numCol="1" anchorCtr="0" compatLnSpc="1"/>
          <a:lstStyle/>
          <a:p>
            <a:fld id="{629387D3-3965-42E6-B0DB-3D78B3B0622E}" type="slidenum">
              <a:rPr lang="en-GB" smtClean="0"/>
              <a:t>3</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ln>
        </p:spPr>
      </p:sp>
      <p:sp>
        <p:nvSpPr>
          <p:cNvPr id="3174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1748" name="Slide Number Placeholder 3"/>
          <p:cNvSpPr>
            <a:spLocks noGrp="1"/>
          </p:cNvSpPr>
          <p:nvPr>
            <p:ph type="sldNum" sz="quarter" idx="5"/>
          </p:nvPr>
        </p:nvSpPr>
        <p:spPr bwMode="auto">
          <a:noFill/>
          <a:ln>
            <a:miter lim="800000"/>
          </a:ln>
        </p:spPr>
        <p:txBody>
          <a:bodyPr wrap="square" numCol="1" anchorCtr="0" compatLnSpc="1"/>
          <a:lstStyle/>
          <a:p>
            <a:fld id="{3BB9666F-B0DB-4BA2-8676-FEF3B7C75595}" type="slidenum">
              <a:rPr lang="en-GB" smtClean="0"/>
              <a:t>4</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ln>
        </p:spPr>
      </p:sp>
      <p:sp>
        <p:nvSpPr>
          <p:cNvPr id="32771"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2772" name="Slide Number Placeholder 3"/>
          <p:cNvSpPr>
            <a:spLocks noGrp="1"/>
          </p:cNvSpPr>
          <p:nvPr>
            <p:ph type="sldNum" sz="quarter" idx="5"/>
          </p:nvPr>
        </p:nvSpPr>
        <p:spPr bwMode="auto">
          <a:noFill/>
          <a:ln>
            <a:miter lim="800000"/>
          </a:ln>
        </p:spPr>
        <p:txBody>
          <a:bodyPr wrap="square" numCol="1" anchorCtr="0" compatLnSpc="1"/>
          <a:lstStyle/>
          <a:p>
            <a:fld id="{6C70AA12-0C02-4E4E-A663-F5F0C5552C5A}" type="slidenum">
              <a:rPr lang="en-GB" smtClean="0"/>
              <a:t>5</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ln>
        </p:spPr>
      </p:sp>
      <p:sp>
        <p:nvSpPr>
          <p:cNvPr id="33795"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3796" name="Slide Number Placeholder 3"/>
          <p:cNvSpPr>
            <a:spLocks noGrp="1"/>
          </p:cNvSpPr>
          <p:nvPr>
            <p:ph type="sldNum" sz="quarter" idx="5"/>
          </p:nvPr>
        </p:nvSpPr>
        <p:spPr bwMode="auto">
          <a:noFill/>
          <a:ln>
            <a:miter lim="800000"/>
          </a:ln>
        </p:spPr>
        <p:txBody>
          <a:bodyPr wrap="square" numCol="1" anchorCtr="0" compatLnSpc="1"/>
          <a:lstStyle/>
          <a:p>
            <a:fld id="{9A900805-A86C-496D-AFBF-54C4F1D808A8}" type="slidenum">
              <a:rPr lang="en-GB" smtClean="0"/>
              <a:t>6</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ln>
        </p:spPr>
      </p:sp>
      <p:sp>
        <p:nvSpPr>
          <p:cNvPr id="3481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4820" name="Slide Number Placeholder 3"/>
          <p:cNvSpPr>
            <a:spLocks noGrp="1"/>
          </p:cNvSpPr>
          <p:nvPr>
            <p:ph type="sldNum" sz="quarter" idx="5"/>
          </p:nvPr>
        </p:nvSpPr>
        <p:spPr bwMode="auto">
          <a:noFill/>
          <a:ln>
            <a:miter lim="800000"/>
          </a:ln>
        </p:spPr>
        <p:txBody>
          <a:bodyPr wrap="square" numCol="1" anchorCtr="0" compatLnSpc="1"/>
          <a:lstStyle/>
          <a:p>
            <a:fld id="{B53347E4-49CC-4020-8DB5-5BEDB88E6532}" type="slidenum">
              <a:rPr lang="en-GB" smtClean="0"/>
              <a:t>7</a:t>
            </a:fld>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ln>
        </p:spPr>
      </p:sp>
      <p:sp>
        <p:nvSpPr>
          <p:cNvPr id="3584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5844" name="Slide Number Placeholder 3"/>
          <p:cNvSpPr>
            <a:spLocks noGrp="1"/>
          </p:cNvSpPr>
          <p:nvPr>
            <p:ph type="sldNum" sz="quarter" idx="5"/>
          </p:nvPr>
        </p:nvSpPr>
        <p:spPr bwMode="auto">
          <a:noFill/>
          <a:ln>
            <a:miter lim="800000"/>
          </a:ln>
        </p:spPr>
        <p:txBody>
          <a:bodyPr wrap="square" numCol="1" anchorCtr="0" compatLnSpc="1"/>
          <a:lstStyle/>
          <a:p>
            <a:fld id="{DD8A4E66-E4E2-46F2-8FA0-605F5C6221B5}" type="slidenum">
              <a:rPr lang="en-GB" smtClean="0"/>
              <a:t>8</a:t>
            </a:fld>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ln>
        </p:spPr>
      </p:sp>
      <p:sp>
        <p:nvSpPr>
          <p:cNvPr id="368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6868" name="Slide Number Placeholder 3"/>
          <p:cNvSpPr>
            <a:spLocks noGrp="1"/>
          </p:cNvSpPr>
          <p:nvPr>
            <p:ph type="sldNum" sz="quarter" idx="5"/>
          </p:nvPr>
        </p:nvSpPr>
        <p:spPr bwMode="auto">
          <a:noFill/>
          <a:ln>
            <a:miter lim="800000"/>
          </a:ln>
        </p:spPr>
        <p:txBody>
          <a:bodyPr wrap="square" numCol="1" anchorCtr="0" compatLnSpc="1"/>
          <a:lstStyle/>
          <a:p>
            <a:fld id="{4155CBA5-1029-476A-A2E4-652D6EEFDE0F}" type="slidenum">
              <a:rPr lang="en-GB" smtClean="0"/>
              <a:t>9</a:t>
            </a:fld>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ln>
        </p:spPr>
      </p:sp>
      <p:sp>
        <p:nvSpPr>
          <p:cNvPr id="37891"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7892" name="Slide Number Placeholder 3"/>
          <p:cNvSpPr>
            <a:spLocks noGrp="1"/>
          </p:cNvSpPr>
          <p:nvPr>
            <p:ph type="sldNum" sz="quarter" idx="5"/>
          </p:nvPr>
        </p:nvSpPr>
        <p:spPr bwMode="auto">
          <a:noFill/>
          <a:ln>
            <a:miter lim="800000"/>
          </a:ln>
        </p:spPr>
        <p:txBody>
          <a:bodyPr wrap="square" numCol="1" anchorCtr="0" compatLnSpc="1"/>
          <a:lstStyle/>
          <a:p>
            <a:fld id="{53DC7145-CBED-4D4B-8372-8DAD8E02CAF0}" type="slidenum">
              <a:rPr lang="en-GB" smtClean="0"/>
              <a:t>13</a:t>
            </a:fld>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15</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16</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17</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18</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19</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23</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25</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ln>
        </p:spPr>
      </p:sp>
      <p:sp>
        <p:nvSpPr>
          <p:cNvPr id="38915"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8916" name="Slide Number Placeholder 3"/>
          <p:cNvSpPr>
            <a:spLocks noGrp="1"/>
          </p:cNvSpPr>
          <p:nvPr>
            <p:ph type="sldNum" sz="quarter" idx="5"/>
          </p:nvPr>
        </p:nvSpPr>
        <p:spPr bwMode="auto">
          <a:noFill/>
          <a:ln>
            <a:miter lim="800000"/>
          </a:ln>
        </p:spPr>
        <p:txBody>
          <a:bodyPr wrap="square" numCol="1" anchorCtr="0" compatLnSpc="1"/>
          <a:lstStyle/>
          <a:p>
            <a:fld id="{D33B1FEC-98A3-408C-A82E-FAFE73A44D4E}" type="slidenum">
              <a:rPr lang="en-GB" smtClean="0"/>
              <a:t>28</a:t>
            </a:fld>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ln>
        </p:spPr>
      </p:sp>
      <p:sp>
        <p:nvSpPr>
          <p:cNvPr id="3993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39940" name="Slide Number Placeholder 3"/>
          <p:cNvSpPr>
            <a:spLocks noGrp="1"/>
          </p:cNvSpPr>
          <p:nvPr>
            <p:ph type="sldNum" sz="quarter" idx="5"/>
          </p:nvPr>
        </p:nvSpPr>
        <p:spPr bwMode="auto">
          <a:noFill/>
          <a:ln>
            <a:miter lim="800000"/>
          </a:ln>
        </p:spPr>
        <p:txBody>
          <a:bodyPr wrap="square" numCol="1" anchorCtr="0" compatLnSpc="1"/>
          <a:lstStyle/>
          <a:p>
            <a:fld id="{DF5815CC-62FD-45CE-9AB9-8B488B6C2390}" type="slidenum">
              <a:rPr lang="en-GB" smtClean="0"/>
              <a:t>29</a:t>
            </a:fld>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ln>
        </p:spPr>
      </p:sp>
      <p:sp>
        <p:nvSpPr>
          <p:cNvPr id="4096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40964" name="Slide Number Placeholder 3"/>
          <p:cNvSpPr>
            <a:spLocks noGrp="1"/>
          </p:cNvSpPr>
          <p:nvPr>
            <p:ph type="sldNum" sz="quarter" idx="5"/>
          </p:nvPr>
        </p:nvSpPr>
        <p:spPr bwMode="auto">
          <a:noFill/>
          <a:ln>
            <a:miter lim="800000"/>
          </a:ln>
        </p:spPr>
        <p:txBody>
          <a:bodyPr wrap="square" numCol="1" anchorCtr="0" compatLnSpc="1"/>
          <a:lstStyle/>
          <a:p>
            <a:fld id="{88914330-AF00-42C1-93FC-FDBF9B002F7D}" type="slidenum">
              <a:rPr lang="en-GB" smtClean="0"/>
              <a:t>30</a:t>
            </a:fld>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ln>
        </p:spPr>
      </p:sp>
      <p:sp>
        <p:nvSpPr>
          <p:cNvPr id="4198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41988" name="Slide Number Placeholder 3"/>
          <p:cNvSpPr>
            <a:spLocks noGrp="1"/>
          </p:cNvSpPr>
          <p:nvPr>
            <p:ph type="sldNum" sz="quarter" idx="5"/>
          </p:nvPr>
        </p:nvSpPr>
        <p:spPr bwMode="auto">
          <a:noFill/>
          <a:ln>
            <a:miter lim="800000"/>
          </a:ln>
        </p:spPr>
        <p:txBody>
          <a:bodyPr wrap="square" numCol="1" anchorCtr="0" compatLnSpc="1"/>
          <a:lstStyle/>
          <a:p>
            <a:fld id="{A64EF25F-867B-4927-B9EA-32C54631E3C9}" type="slidenum">
              <a:rPr lang="en-GB" smtClean="0"/>
              <a:t>31</a:t>
            </a:fld>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ln>
        </p:spPr>
      </p:sp>
      <p:sp>
        <p:nvSpPr>
          <p:cNvPr id="43011"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dirty="0"/>
          </a:p>
        </p:txBody>
      </p:sp>
      <p:sp>
        <p:nvSpPr>
          <p:cNvPr id="43012" name="Slide Number Placeholder 3"/>
          <p:cNvSpPr>
            <a:spLocks noGrp="1"/>
          </p:cNvSpPr>
          <p:nvPr>
            <p:ph type="sldNum" sz="quarter" idx="5"/>
          </p:nvPr>
        </p:nvSpPr>
        <p:spPr bwMode="auto">
          <a:noFill/>
          <a:ln>
            <a:miter lim="800000"/>
          </a:ln>
        </p:spPr>
        <p:txBody>
          <a:bodyPr wrap="square" numCol="1" anchorCtr="0" compatLnSpc="1"/>
          <a:lstStyle/>
          <a:p>
            <a:fld id="{009B1BD7-62CF-469B-8D9B-BFD2C1A2A16D}" type="slidenum">
              <a:rPr lang="en-GB" smtClean="0"/>
              <a:t>32</a:t>
            </a:fld>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ln>
        </p:spPr>
      </p:sp>
      <p:sp>
        <p:nvSpPr>
          <p:cNvPr id="44035"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a:p>
        </p:txBody>
      </p:sp>
      <p:sp>
        <p:nvSpPr>
          <p:cNvPr id="44036" name="Slide Number Placeholder 3"/>
          <p:cNvSpPr>
            <a:spLocks noGrp="1"/>
          </p:cNvSpPr>
          <p:nvPr>
            <p:ph type="sldNum" sz="quarter" idx="5"/>
          </p:nvPr>
        </p:nvSpPr>
        <p:spPr bwMode="auto">
          <a:noFill/>
          <a:ln>
            <a:miter lim="800000"/>
          </a:ln>
        </p:spPr>
        <p:txBody>
          <a:bodyPr wrap="square" numCol="1" anchorCtr="0" compatLnSpc="1"/>
          <a:lstStyle/>
          <a:p>
            <a:fld id="{C8410AF4-4E9C-4554-9336-D4378FF018C7}" type="slidenum">
              <a:rPr lang="en-GB" smtClean="0"/>
              <a:t>33</a:t>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ln>
        </p:spPr>
      </p:sp>
      <p:sp>
        <p:nvSpPr>
          <p:cNvPr id="4505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a:p>
        </p:txBody>
      </p:sp>
      <p:sp>
        <p:nvSpPr>
          <p:cNvPr id="45060" name="Slide Number Placeholder 3"/>
          <p:cNvSpPr>
            <a:spLocks noGrp="1"/>
          </p:cNvSpPr>
          <p:nvPr>
            <p:ph type="sldNum" sz="quarter" idx="5"/>
          </p:nvPr>
        </p:nvSpPr>
        <p:spPr bwMode="auto">
          <a:noFill/>
          <a:ln>
            <a:miter lim="800000"/>
          </a:ln>
        </p:spPr>
        <p:txBody>
          <a:bodyPr wrap="square" numCol="1" anchorCtr="0" compatLnSpc="1"/>
          <a:lstStyle/>
          <a:p>
            <a:fld id="{CD75EB22-0FA5-4501-815E-6152896936E0}" type="slidenum">
              <a:rPr lang="en-GB" smtClean="0"/>
              <a:t>34</a:t>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ln>
        </p:spPr>
      </p:sp>
      <p:sp>
        <p:nvSpPr>
          <p:cNvPr id="4608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a:p>
        </p:txBody>
      </p:sp>
      <p:sp>
        <p:nvSpPr>
          <p:cNvPr id="46084" name="Slide Number Placeholder 3"/>
          <p:cNvSpPr>
            <a:spLocks noGrp="1"/>
          </p:cNvSpPr>
          <p:nvPr>
            <p:ph type="sldNum" sz="quarter" idx="5"/>
          </p:nvPr>
        </p:nvSpPr>
        <p:spPr bwMode="auto">
          <a:noFill/>
          <a:ln>
            <a:miter lim="800000"/>
          </a:ln>
        </p:spPr>
        <p:txBody>
          <a:bodyPr wrap="square" numCol="1" anchorCtr="0" compatLnSpc="1"/>
          <a:lstStyle/>
          <a:p>
            <a:fld id="{86EA6F1B-3FCF-47E2-BDE3-93EE2FFA6D9C}" type="slidenum">
              <a:rPr lang="en-GB" smtClean="0"/>
              <a:t>35</a:t>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ln>
        </p:spPr>
      </p:sp>
      <p:sp>
        <p:nvSpPr>
          <p:cNvPr id="49155"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GB"/>
          </a:p>
        </p:txBody>
      </p:sp>
      <p:sp>
        <p:nvSpPr>
          <p:cNvPr id="49156" name="Slide Number Placeholder 3"/>
          <p:cNvSpPr>
            <a:spLocks noGrp="1"/>
          </p:cNvSpPr>
          <p:nvPr>
            <p:ph type="sldNum" sz="quarter" idx="5"/>
          </p:nvPr>
        </p:nvSpPr>
        <p:spPr bwMode="auto">
          <a:noFill/>
          <a:ln>
            <a:miter lim="800000"/>
          </a:ln>
        </p:spPr>
        <p:txBody>
          <a:bodyPr wrap="square" numCol="1" anchorCtr="0" compatLnSpc="1"/>
          <a:lstStyle/>
          <a:p>
            <a:fld id="{24478A69-8F82-402A-81EC-1CD5750A6084}" type="slidenum">
              <a:rPr lang="en-GB" smtClean="0"/>
              <a:t>36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7" name="Group 76" title="Feather Background"/>
          <p:cNvGrpSpPr/>
          <p:nvPr/>
        </p:nvGrpSpPr>
        <p:grpSpPr>
          <a:xfrm>
            <a:off x="-6284" y="0"/>
            <a:ext cx="915252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sp>
      </p:grpSp>
      <p:grpSp>
        <p:nvGrpSpPr>
          <p:cNvPr id="84" name="Group 83" title="Text Container Shape"/>
          <p:cNvGrpSpPr/>
          <p:nvPr/>
        </p:nvGrpSpPr>
        <p:grpSpPr>
          <a:xfrm>
            <a:off x="5486400" y="466725"/>
            <a:ext cx="3662363"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6729989" y="6442525"/>
            <a:ext cx="2057400" cy="365125"/>
          </a:xfrm>
        </p:spPr>
        <p:txBody>
          <a:bodyPr/>
          <a:lstStyle/>
          <a:p>
            <a:pPr>
              <a:defRPr/>
            </a:pPr>
            <a:fld id="{87F17286-995C-4801-9DD7-DCE768CA6662}" type="datetime1">
              <a:rPr lang="en-US" altLang="en-US" smtClean="0"/>
              <a:t>5/26/2026</a:t>
            </a:fld>
            <a:endParaRPr lang="en-US" altLang="en-US"/>
          </a:p>
        </p:txBody>
      </p:sp>
      <p:sp>
        <p:nvSpPr>
          <p:cNvPr id="5" name="Footer Placeholder 4"/>
          <p:cNvSpPr>
            <a:spLocks noGrp="1"/>
          </p:cNvSpPr>
          <p:nvPr>
            <p:ph type="ftr" sz="quarter" idx="11"/>
          </p:nvPr>
        </p:nvSpPr>
        <p:spPr>
          <a:xfrm>
            <a:off x="3024158" y="6442525"/>
            <a:ext cx="3086100" cy="365125"/>
          </a:xfrm>
        </p:spPr>
        <p:txBody>
          <a:bodyPr/>
          <a:lstStyle>
            <a:lvl1pPr algn="ctr">
              <a:defRPr/>
            </a:lvl1pPr>
          </a:lstStyle>
          <a:p>
            <a:pPr>
              <a:defRPr/>
            </a:pPr>
            <a:r>
              <a:rPr lang="en-US" altLang="en-US"/>
              <a:t>Data structures and algorithms</a:t>
            </a:r>
          </a:p>
        </p:txBody>
      </p:sp>
      <p:sp>
        <p:nvSpPr>
          <p:cNvPr id="6" name="Slide Number Placeholder 5"/>
          <p:cNvSpPr>
            <a:spLocks noGrp="1"/>
          </p:cNvSpPr>
          <p:nvPr>
            <p:ph type="sldNum" sz="quarter" idx="12"/>
          </p:nvPr>
        </p:nvSpPr>
        <p:spPr>
          <a:xfrm>
            <a:off x="349824" y="6442525"/>
            <a:ext cx="2066534" cy="365125"/>
          </a:xfrm>
        </p:spPr>
        <p:txBody>
          <a:bodyPr anchor="ctr"/>
          <a:lstStyle>
            <a:lvl1pPr algn="l">
              <a:defRPr sz="900"/>
            </a:lvl1pPr>
          </a:lstStyle>
          <a:p>
            <a:pPr>
              <a:defRPr/>
            </a:pPr>
            <a:fld id="{301131FF-D2E2-4B59-B54C-4F27801A72EB}" type="slidenum">
              <a:rPr lang="en-US" altLang="en-US" smtClean="0"/>
              <a:t>‹#›</a:t>
            </a:fld>
            <a:endParaRPr lang="en-US" altLang="en-US"/>
          </a:p>
        </p:txBody>
      </p:sp>
      <p:sp>
        <p:nvSpPr>
          <p:cNvPr id="68"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ln>
        </p:spPr>
      </p:sp>
      <p:sp>
        <p:nvSpPr>
          <p:cNvPr id="216"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ln>
        </p:spPr>
      </p:sp>
      <p:sp>
        <p:nvSpPr>
          <p:cNvPr id="2" name="Title 1"/>
          <p:cNvSpPr>
            <a:spLocks noGrp="1"/>
          </p:cNvSpPr>
          <p:nvPr>
            <p:ph type="ctrTitle"/>
          </p:nvPr>
        </p:nvSpPr>
        <p:spPr>
          <a:xfrm>
            <a:off x="5940564" y="1023868"/>
            <a:ext cx="2845259" cy="3349641"/>
          </a:xfrm>
        </p:spPr>
        <p:txBody>
          <a:bodyPr anchor="t">
            <a:normAutofit/>
          </a:bodyPr>
          <a:lstStyle>
            <a:lvl1pPr algn="l">
              <a:lnSpc>
                <a:spcPct val="105000"/>
              </a:lnSpc>
              <a:defRPr sz="33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5940564" y="4945377"/>
            <a:ext cx="284525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9"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ln>
        </p:spPr>
      </p:sp>
      <p:sp>
        <p:nvSpPr>
          <p:cNvPr id="21"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ln>
        </p:spPr>
      </p:sp>
    </p:spTree>
  </p:cSld>
  <p:clrMapOvr>
    <a:masterClrMapping/>
  </p:clrMapOvr>
  <p:transition spd="med">
    <p:zoom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
        <p:nvSpPr>
          <p:cNvPr id="6" name="Slide Number Placeholder 5"/>
          <p:cNvSpPr>
            <a:spLocks noGrp="1"/>
          </p:cNvSpPr>
          <p:nvPr>
            <p:ph type="sldNum" sz="quarter" idx="12"/>
          </p:nvPr>
        </p:nvSpPr>
        <p:spPr/>
        <p:txBody>
          <a:bodyPr/>
          <a:lstStyle/>
          <a:p>
            <a:pPr>
              <a:defRPr/>
            </a:pPr>
            <a:fld id="{19801BA2-3B72-413F-8425-2D30D19AE12B}" type="slidenum">
              <a:rPr lang="en-US" altLang="en-US" smtClean="0"/>
              <a:t>‹#›</a:t>
            </a:fld>
            <a:endParaRPr lang="en-US" altLang="en-US"/>
          </a:p>
        </p:txBody>
      </p:sp>
    </p:spTree>
  </p:cSld>
  <p:clrMapOvr>
    <a:masterClrMapping/>
  </p:clrMapOvr>
  <p:transition spd="med">
    <p:zoom dir="in"/>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9149366"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1838325" y="1262063"/>
            <a:ext cx="54864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6738557" y="6296731"/>
            <a:ext cx="2057400" cy="365125"/>
          </a:xfrm>
        </p:spPr>
        <p:txBody>
          <a:bodyPr/>
          <a:lstStyle>
            <a:lvl1pPr>
              <a:defRPr>
                <a:solidFill>
                  <a:schemeClr val="bg2"/>
                </a:solidFill>
              </a:defRPr>
            </a:lvl1pPr>
          </a:lstStyle>
          <a:p>
            <a:pPr>
              <a:defRPr/>
            </a:pPr>
            <a:fld id="{0732D581-F831-41EF-AEF3-80A6F0170795}" type="datetime1">
              <a:rPr lang="en-US" altLang="en-US" smtClean="0"/>
              <a:t>5/26/2026</a:t>
            </a:fld>
            <a:endParaRPr lang="en-US" altLang="en-US"/>
          </a:p>
        </p:txBody>
      </p:sp>
      <p:sp>
        <p:nvSpPr>
          <p:cNvPr id="5" name="Footer Placeholder 4"/>
          <p:cNvSpPr>
            <a:spLocks noGrp="1"/>
          </p:cNvSpPr>
          <p:nvPr>
            <p:ph type="ftr" sz="quarter" idx="11"/>
          </p:nvPr>
        </p:nvSpPr>
        <p:spPr>
          <a:xfrm>
            <a:off x="3030683" y="6296731"/>
            <a:ext cx="3086100" cy="365125"/>
          </a:xfrm>
        </p:spPr>
        <p:txBody>
          <a:bodyPr/>
          <a:lstStyle>
            <a:lvl1pPr algn="ctr">
              <a:defRPr>
                <a:solidFill>
                  <a:schemeClr val="bg2"/>
                </a:solidFill>
              </a:defRPr>
            </a:lvl1pPr>
          </a:lstStyle>
          <a:p>
            <a:pPr>
              <a:defRPr/>
            </a:pPr>
            <a:r>
              <a:rPr lang="en-US" altLang="en-US"/>
              <a:t>Data structures and algorithms</a:t>
            </a:r>
          </a:p>
        </p:txBody>
      </p:sp>
      <p:sp>
        <p:nvSpPr>
          <p:cNvPr id="6" name="Slide Number Placeholder 5"/>
          <p:cNvSpPr>
            <a:spLocks noGrp="1"/>
          </p:cNvSpPr>
          <p:nvPr>
            <p:ph type="sldNum" sz="quarter" idx="12"/>
          </p:nvPr>
        </p:nvSpPr>
        <p:spPr>
          <a:xfrm>
            <a:off x="348057" y="6296731"/>
            <a:ext cx="2086157" cy="365125"/>
          </a:xfrm>
        </p:spPr>
        <p:txBody>
          <a:bodyPr anchor="ctr"/>
          <a:lstStyle>
            <a:lvl1pPr algn="l">
              <a:defRPr sz="900">
                <a:solidFill>
                  <a:schemeClr val="bg2"/>
                </a:solidFill>
              </a:defRPr>
            </a:lvl1pPr>
          </a:lstStyle>
          <a:p>
            <a:pPr>
              <a:defRPr/>
            </a:pPr>
            <a:fld id="{4CC5FCF6-5E09-4D11-A4E6-A949A646BF43}" type="slidenum">
              <a:rPr lang="en-US" altLang="en-US" smtClean="0"/>
              <a:t>‹#›</a:t>
            </a:fld>
            <a:endParaRPr lang="en-US" altLang="en-US"/>
          </a:p>
        </p:txBody>
      </p:sp>
      <p:sp>
        <p:nvSpPr>
          <p:cNvPr id="2" name="Title 1"/>
          <p:cNvSpPr>
            <a:spLocks noGrp="1"/>
          </p:cNvSpPr>
          <p:nvPr>
            <p:ph type="title"/>
          </p:nvPr>
        </p:nvSpPr>
        <p:spPr>
          <a:xfrm>
            <a:off x="2371726" y="1830580"/>
            <a:ext cx="4394793"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60938" y="4176132"/>
            <a:ext cx="3424856"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cSld>
  <p:clrMapOvr>
    <a:masterClrMapping/>
  </p:clrMapOvr>
  <p:transition spd="med">
    <p:zoom dir="in"/>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12609" y="2438400"/>
            <a:ext cx="3127248"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0955" y="2438400"/>
            <a:ext cx="3127248"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6F040ECF-ED17-4E02-B195-88CE96A1F613}" type="datetime1">
              <a:rPr lang="en-US" altLang="en-US" smtClean="0"/>
              <a:t>5/26/2026</a:t>
            </a:fld>
            <a:endParaRPr lang="en-US" altLang="en-US"/>
          </a:p>
        </p:txBody>
      </p:sp>
      <p:sp>
        <p:nvSpPr>
          <p:cNvPr id="6" name="Footer Placeholder 5"/>
          <p:cNvSpPr>
            <a:spLocks noGrp="1"/>
          </p:cNvSpPr>
          <p:nvPr>
            <p:ph type="ftr" sz="quarter" idx="11"/>
          </p:nvPr>
        </p:nvSpPr>
        <p:spPr/>
        <p:txBody>
          <a:bodyPr/>
          <a:lstStyle/>
          <a:p>
            <a:pPr>
              <a:defRPr/>
            </a:pPr>
            <a:r>
              <a:rPr lang="en-US" altLang="en-US"/>
              <a:t>Data structures and algorithms</a:t>
            </a:r>
          </a:p>
        </p:txBody>
      </p:sp>
      <p:sp>
        <p:nvSpPr>
          <p:cNvPr id="7" name="Slide Number Placeholder 6"/>
          <p:cNvSpPr>
            <a:spLocks noGrp="1"/>
          </p:cNvSpPr>
          <p:nvPr>
            <p:ph type="sldNum" sz="quarter" idx="12"/>
          </p:nvPr>
        </p:nvSpPr>
        <p:spPr/>
        <p:txBody>
          <a:bodyPr/>
          <a:lstStyle/>
          <a:p>
            <a:pPr>
              <a:defRPr/>
            </a:pPr>
            <a:fld id="{FE820B54-CE5C-44E6-AE7A-DCDC12A7350A}" type="slidenum">
              <a:rPr lang="en-US" altLang="en-US" smtClean="0"/>
              <a:t>‹#›</a:t>
            </a:fld>
            <a:endParaRPr lang="en-US" altLang="en-US"/>
          </a:p>
        </p:txBody>
      </p:sp>
    </p:spTree>
  </p:cSld>
  <p:clrMapOvr>
    <a:masterClrMapping/>
  </p:clrMapOvr>
  <p:transition spd="med">
    <p:zoom dir="in"/>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04338" y="566928"/>
            <a:ext cx="6673866"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00276"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00276" y="3316640"/>
            <a:ext cx="3136392"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41811"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641811" y="3316640"/>
            <a:ext cx="3136392"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BAF9D8C1-EDAE-4B5E-A89E-4591389D6C61}" type="datetime1">
              <a:rPr lang="en-US" altLang="en-US" smtClean="0"/>
              <a:t>5/26/2026</a:t>
            </a:fld>
            <a:endParaRPr lang="en-US" altLang="en-US"/>
          </a:p>
        </p:txBody>
      </p:sp>
      <p:sp>
        <p:nvSpPr>
          <p:cNvPr id="8" name="Footer Placeholder 7"/>
          <p:cNvSpPr>
            <a:spLocks noGrp="1"/>
          </p:cNvSpPr>
          <p:nvPr>
            <p:ph type="ftr" sz="quarter" idx="11"/>
          </p:nvPr>
        </p:nvSpPr>
        <p:spPr/>
        <p:txBody>
          <a:bodyPr/>
          <a:lstStyle/>
          <a:p>
            <a:pPr>
              <a:defRPr/>
            </a:pPr>
            <a:r>
              <a:rPr lang="en-US" altLang="en-US"/>
              <a:t>Data structures and algorithms</a:t>
            </a:r>
          </a:p>
        </p:txBody>
      </p:sp>
      <p:sp>
        <p:nvSpPr>
          <p:cNvPr id="9" name="Slide Number Placeholder 8"/>
          <p:cNvSpPr>
            <a:spLocks noGrp="1"/>
          </p:cNvSpPr>
          <p:nvPr>
            <p:ph type="sldNum" sz="quarter" idx="12"/>
          </p:nvPr>
        </p:nvSpPr>
        <p:spPr/>
        <p:txBody>
          <a:bodyPr/>
          <a:lstStyle/>
          <a:p>
            <a:pPr>
              <a:defRPr/>
            </a:pPr>
            <a:fld id="{D401B3A5-1368-4A05-8CE6-96E6F19913C7}" type="slidenum">
              <a:rPr lang="en-US" altLang="en-US" smtClean="0"/>
              <a:t>‹#›</a:t>
            </a:fld>
            <a:endParaRPr lang="en-US" altLang="en-US"/>
          </a:p>
        </p:txBody>
      </p:sp>
    </p:spTree>
  </p:cSld>
  <p:clrMapOvr>
    <a:masterClrMapping/>
  </p:clrMapOvr>
  <p:transition spd="med">
    <p:zoom dir="in"/>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AA0A2070-E9BF-4E14-968C-C30F7B31EC2C}" type="datetime1">
              <a:rPr lang="en-US" altLang="en-US" smtClean="0"/>
              <a:t>5/26/2026</a:t>
            </a:fld>
            <a:endParaRPr lang="en-US" altLang="en-US"/>
          </a:p>
        </p:txBody>
      </p:sp>
      <p:sp>
        <p:nvSpPr>
          <p:cNvPr id="4" name="Footer Placeholder 3"/>
          <p:cNvSpPr>
            <a:spLocks noGrp="1"/>
          </p:cNvSpPr>
          <p:nvPr>
            <p:ph type="ftr" sz="quarter" idx="11"/>
          </p:nvPr>
        </p:nvSpPr>
        <p:spPr/>
        <p:txBody>
          <a:bodyPr/>
          <a:lstStyle/>
          <a:p>
            <a:pPr>
              <a:defRPr/>
            </a:pPr>
            <a:r>
              <a:rPr lang="en-US" altLang="en-US"/>
              <a:t>Data structures and algorithms</a:t>
            </a:r>
          </a:p>
        </p:txBody>
      </p:sp>
      <p:sp>
        <p:nvSpPr>
          <p:cNvPr id="5" name="Slide Number Placeholder 4"/>
          <p:cNvSpPr>
            <a:spLocks noGrp="1"/>
          </p:cNvSpPr>
          <p:nvPr>
            <p:ph type="sldNum" sz="quarter" idx="12"/>
          </p:nvPr>
        </p:nvSpPr>
        <p:spPr/>
        <p:txBody>
          <a:bodyPr/>
          <a:lstStyle/>
          <a:p>
            <a:pPr>
              <a:defRPr/>
            </a:pPr>
            <a:fld id="{634FBF29-E300-4215-9F6C-3039E083F6C8}" type="slidenum">
              <a:rPr lang="en-US" altLang="en-US" smtClean="0"/>
              <a:t>‹#›</a:t>
            </a:fld>
            <a:endParaRPr lang="en-US" altLang="en-US"/>
          </a:p>
        </p:txBody>
      </p:sp>
    </p:spTree>
  </p:cSld>
  <p:clrMapOvr>
    <a:masterClrMapping/>
  </p:clrMapOvr>
  <p:transition spd="med">
    <p:zoom dir="in"/>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242422" y="723329"/>
            <a:ext cx="3173440"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pPr>
              <a:defRPr/>
            </a:pPr>
            <a:fld id="{F7EAFED0-5219-4E11-A339-359D52C12DE2}" type="datetime1">
              <a:rPr lang="en-US" altLang="en-US" smtClean="0"/>
              <a:t>5/26/2026</a:t>
            </a:fld>
            <a:endParaRPr lang="en-US" altLang="en-US"/>
          </a:p>
        </p:txBody>
      </p:sp>
      <p:sp>
        <p:nvSpPr>
          <p:cNvPr id="3" name="Footer Placeholder 2"/>
          <p:cNvSpPr>
            <a:spLocks noGrp="1"/>
          </p:cNvSpPr>
          <p:nvPr>
            <p:ph type="ftr" sz="quarter" idx="11"/>
          </p:nvPr>
        </p:nvSpPr>
        <p:spPr/>
        <p:txBody>
          <a:bodyPr/>
          <a:lstStyle/>
          <a:p>
            <a:pPr>
              <a:defRPr/>
            </a:pPr>
            <a:r>
              <a:rPr lang="en-US" altLang="en-US"/>
              <a:t>Data structures and algorithms</a:t>
            </a:r>
          </a:p>
        </p:txBody>
      </p:sp>
      <p:sp>
        <p:nvSpPr>
          <p:cNvPr id="4" name="Slide Number Placeholder 3"/>
          <p:cNvSpPr>
            <a:spLocks noGrp="1"/>
          </p:cNvSpPr>
          <p:nvPr>
            <p:ph type="sldNum" sz="quarter" idx="12"/>
          </p:nvPr>
        </p:nvSpPr>
        <p:spPr/>
        <p:txBody>
          <a:bodyPr/>
          <a:lstStyle/>
          <a:p>
            <a:pPr>
              <a:defRPr/>
            </a:pPr>
            <a:fld id="{FBDADC93-C3C0-4886-9A87-353B3F2644C8}" type="slidenum">
              <a:rPr lang="en-US" altLang="en-US" smtClean="0"/>
              <a:t>‹#›</a:t>
            </a:fld>
            <a:endParaRPr lang="en-US" altLang="en-US"/>
          </a:p>
        </p:txBody>
      </p:sp>
    </p:spTree>
  </p:cSld>
  <p:clrMapOvr>
    <a:masterClrMapping/>
  </p:clrMapOvr>
  <p:transition spd="med">
    <p:zoom dir="in"/>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07"/>
            <a:ext cx="2420786" cy="1687924"/>
          </a:xfrm>
        </p:spPr>
        <p:txBody>
          <a:bodyPr anchor="b">
            <a:normAutofit/>
          </a:bodyPr>
          <a:lstStyle>
            <a:lvl1pPr>
              <a:lnSpc>
                <a:spcPct val="104000"/>
              </a:lnSpc>
              <a:defRPr sz="2800"/>
            </a:lvl1pPr>
          </a:lstStyle>
          <a:p>
            <a:r>
              <a:rPr lang="en-US"/>
              <a:t>Click to edit Master title style</a:t>
            </a:r>
            <a:endParaRPr lang="en-US" dirty="0"/>
          </a:p>
        </p:txBody>
      </p:sp>
      <p:sp>
        <p:nvSpPr>
          <p:cNvPr id="3" name="Content Placeholder 2"/>
          <p:cNvSpPr>
            <a:spLocks noGrp="1"/>
          </p:cNvSpPr>
          <p:nvPr>
            <p:ph idx="1"/>
          </p:nvPr>
        </p:nvSpPr>
        <p:spPr>
          <a:xfrm>
            <a:off x="365798" y="441414"/>
            <a:ext cx="569778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55080" y="3223804"/>
            <a:ext cx="2420786"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357417" y="6286501"/>
            <a:ext cx="2420786" cy="365125"/>
          </a:xfrm>
        </p:spPr>
        <p:txBody>
          <a:bodyPr/>
          <a:lstStyle>
            <a:lvl1pPr algn="l">
              <a:defRPr/>
            </a:lvl1pPr>
          </a:lstStyle>
          <a:p>
            <a:pPr>
              <a:defRPr/>
            </a:pPr>
            <a:fld id="{1A9FDB86-6D33-487A-BC9D-5AFAC36C6B7D}" type="datetime1">
              <a:rPr lang="en-US" altLang="en-US" smtClean="0"/>
              <a:t>5/26/2026</a:t>
            </a:fld>
            <a:endParaRPr lang="en-US" altLang="en-US"/>
          </a:p>
        </p:txBody>
      </p:sp>
      <p:sp>
        <p:nvSpPr>
          <p:cNvPr id="6" name="Footer Placeholder 5"/>
          <p:cNvSpPr>
            <a:spLocks noGrp="1"/>
          </p:cNvSpPr>
          <p:nvPr>
            <p:ph type="ftr" sz="quarter" idx="11"/>
          </p:nvPr>
        </p:nvSpPr>
        <p:spPr>
          <a:xfrm>
            <a:off x="365798" y="6286501"/>
            <a:ext cx="5697780" cy="365125"/>
          </a:xfrm>
        </p:spPr>
        <p:txBody>
          <a:bodyPr/>
          <a:lstStyle>
            <a:lvl1pPr algn="l">
              <a:defRPr/>
            </a:lvl1pPr>
          </a:lstStyle>
          <a:p>
            <a:pPr>
              <a:defRPr/>
            </a:pPr>
            <a:r>
              <a:rPr lang="en-US" altLang="en-US"/>
              <a:t>Data structures and algorithms</a:t>
            </a:r>
          </a:p>
        </p:txBody>
      </p:sp>
      <p:sp>
        <p:nvSpPr>
          <p:cNvPr id="7" name="Slide Number Placeholder 6"/>
          <p:cNvSpPr>
            <a:spLocks noGrp="1"/>
          </p:cNvSpPr>
          <p:nvPr>
            <p:ph type="sldNum" sz="quarter" idx="12"/>
          </p:nvPr>
        </p:nvSpPr>
        <p:spPr>
          <a:xfrm>
            <a:off x="6355080" y="373605"/>
            <a:ext cx="2420786" cy="816481"/>
          </a:xfrm>
        </p:spPr>
        <p:txBody>
          <a:bodyPr anchor="t"/>
          <a:lstStyle>
            <a:lvl1pPr algn="l">
              <a:defRPr sz="3800"/>
            </a:lvl1pPr>
          </a:lstStyle>
          <a:p>
            <a:pPr>
              <a:defRPr/>
            </a:pPr>
            <a:fld id="{B2EC162D-8E54-4CAD-A8B5-20CB26BDEA6E}" type="slidenum">
              <a:rPr lang="en-US" altLang="en-US" smtClean="0"/>
              <a:t>‹#›</a:t>
            </a:fld>
            <a:endParaRPr lang="en-US" altLang="en-US"/>
          </a:p>
        </p:txBody>
      </p:sp>
    </p:spTree>
  </p:cSld>
  <p:clrMapOvr>
    <a:masterClrMapping/>
  </p:clrMapOvr>
  <p:transition spd="med">
    <p:zoom dir="in"/>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10"/>
            <a:ext cx="2423160" cy="1687924"/>
          </a:xfrm>
        </p:spPr>
        <p:txBody>
          <a:bodyPr anchor="b">
            <a:noAutofit/>
          </a:bodyPr>
          <a:lstStyle>
            <a:lvl1pPr>
              <a:lnSpc>
                <a:spcPct val="104000"/>
              </a:lnSpc>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 y="1"/>
            <a:ext cx="6076988"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55080" y="3223806"/>
            <a:ext cx="242316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350194" y="6296616"/>
            <a:ext cx="2428010" cy="365125"/>
          </a:xfrm>
        </p:spPr>
        <p:txBody>
          <a:bodyPr/>
          <a:lstStyle>
            <a:lvl1pPr algn="l">
              <a:defRPr/>
            </a:lvl1pPr>
          </a:lstStyle>
          <a:p>
            <a:pPr>
              <a:defRPr/>
            </a:pPr>
            <a:fld id="{6FC8DD3E-1869-4475-AE4A-7AA65AEE7E9D}" type="datetime1">
              <a:rPr lang="en-US" altLang="en-US" smtClean="0"/>
              <a:t>5/26/2026</a:t>
            </a:fld>
            <a:endParaRPr lang="en-US" altLang="en-US"/>
          </a:p>
        </p:txBody>
      </p:sp>
      <p:sp>
        <p:nvSpPr>
          <p:cNvPr id="6" name="Footer Placeholder 5"/>
          <p:cNvSpPr>
            <a:spLocks noGrp="1"/>
          </p:cNvSpPr>
          <p:nvPr>
            <p:ph type="ftr" sz="quarter" idx="11"/>
          </p:nvPr>
        </p:nvSpPr>
        <p:spPr>
          <a:xfrm>
            <a:off x="365798" y="6296616"/>
            <a:ext cx="5711190" cy="365125"/>
          </a:xfrm>
        </p:spPr>
        <p:txBody>
          <a:bodyPr/>
          <a:lstStyle>
            <a:lvl1pPr algn="l">
              <a:defRPr/>
            </a:lvl1pPr>
          </a:lstStyle>
          <a:p>
            <a:pPr>
              <a:defRPr/>
            </a:pPr>
            <a:r>
              <a:rPr lang="en-US" altLang="en-US"/>
              <a:t>Data structures and algorithms</a:t>
            </a:r>
          </a:p>
        </p:txBody>
      </p:sp>
      <p:sp>
        <p:nvSpPr>
          <p:cNvPr id="7" name="Slide Number Placeholder 6"/>
          <p:cNvSpPr>
            <a:spLocks noGrp="1"/>
          </p:cNvSpPr>
          <p:nvPr>
            <p:ph type="sldNum" sz="quarter" idx="12"/>
          </p:nvPr>
        </p:nvSpPr>
        <p:spPr>
          <a:xfrm>
            <a:off x="6355080" y="373607"/>
            <a:ext cx="2423160" cy="816482"/>
          </a:xfrm>
        </p:spPr>
        <p:txBody>
          <a:bodyPr anchor="t"/>
          <a:lstStyle>
            <a:lvl1pPr algn="l">
              <a:defRPr sz="3800"/>
            </a:lvl1pPr>
          </a:lstStyle>
          <a:p>
            <a:pPr>
              <a:defRPr/>
            </a:pPr>
            <a:fld id="{76098ABA-379C-4680-902C-DD766A7AE0E6}" type="slidenum">
              <a:rPr lang="en-US" altLang="en-US" smtClean="0"/>
              <a:t>‹#›</a:t>
            </a:fld>
            <a:endParaRPr lang="en-US" altLang="en-US"/>
          </a:p>
        </p:txBody>
      </p:sp>
    </p:spTree>
  </p:cSld>
  <p:clrMapOvr>
    <a:masterClrMapping/>
  </p:clrMapOvr>
  <p:transition spd="med">
    <p:zoom dir="in"/>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6DFD790-DC46-4AF6-A386-F7485B4773F5}"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
        <p:nvSpPr>
          <p:cNvPr id="6" name="Slide Number Placeholder 5"/>
          <p:cNvSpPr>
            <a:spLocks noGrp="1"/>
          </p:cNvSpPr>
          <p:nvPr>
            <p:ph type="sldNum" sz="quarter" idx="12"/>
          </p:nvPr>
        </p:nvSpPr>
        <p:spPr/>
        <p:txBody>
          <a:bodyPr/>
          <a:lstStyle/>
          <a:p>
            <a:pPr>
              <a:defRPr/>
            </a:pPr>
            <a:fld id="{639DF783-A959-4CA1-9B8E-CA7035461CDE}" type="slidenum">
              <a:rPr lang="en-US" altLang="en-US" smtClean="0"/>
              <a:t>‹#›</a:t>
            </a:fld>
            <a:endParaRPr lang="en-US" altLang="en-US"/>
          </a:p>
        </p:txBody>
      </p:sp>
    </p:spTree>
  </p:cSld>
  <p:clrMapOvr>
    <a:masterClrMapping/>
  </p:clrMapOvr>
  <p:transition spd="med">
    <p:zoom dir="in"/>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3" name="Group 12" title="Feathers"/>
          <p:cNvGrpSpPr/>
          <p:nvPr/>
        </p:nvGrpSpPr>
        <p:grpSpPr>
          <a:xfrm>
            <a:off x="242422" y="723329"/>
            <a:ext cx="3173440"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6573835" y="507037"/>
            <a:ext cx="1563624"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00275" y="524373"/>
            <a:ext cx="4087379"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958474" y="6296616"/>
            <a:ext cx="1879497" cy="365125"/>
          </a:xfrm>
        </p:spPr>
        <p:txBody>
          <a:bodyPr/>
          <a:lstStyle/>
          <a:p>
            <a:pPr>
              <a:defRPr/>
            </a:pPr>
            <a:fld id="{F3D30535-F2F2-43E4-BD21-32EECE34F8EF}" type="datetime1">
              <a:rPr lang="en-US" altLang="en-US" smtClean="0"/>
              <a:t>5/26/2026</a:t>
            </a:fld>
            <a:endParaRPr lang="en-US" altLang="en-US"/>
          </a:p>
        </p:txBody>
      </p:sp>
      <p:sp>
        <p:nvSpPr>
          <p:cNvPr id="5" name="Footer Placeholder 4"/>
          <p:cNvSpPr>
            <a:spLocks noGrp="1"/>
          </p:cNvSpPr>
          <p:nvPr>
            <p:ph type="ftr" sz="quarter" idx="11"/>
          </p:nvPr>
        </p:nvSpPr>
        <p:spPr>
          <a:xfrm>
            <a:off x="2200275" y="6296616"/>
            <a:ext cx="4469683" cy="365125"/>
          </a:xfrm>
        </p:spPr>
        <p:txBody>
          <a:bodyPr/>
          <a:lstStyle/>
          <a:p>
            <a:pPr>
              <a:defRPr/>
            </a:pPr>
            <a:r>
              <a:rPr lang="en-US" altLang="en-US"/>
              <a:t>Data structures and algorithms</a:t>
            </a:r>
          </a:p>
        </p:txBody>
      </p:sp>
      <p:sp>
        <p:nvSpPr>
          <p:cNvPr id="6" name="Slide Number Placeholder 5"/>
          <p:cNvSpPr>
            <a:spLocks noGrp="1"/>
          </p:cNvSpPr>
          <p:nvPr>
            <p:ph type="sldNum" sz="quarter" idx="12"/>
          </p:nvPr>
        </p:nvSpPr>
        <p:spPr>
          <a:xfrm rot="5400000">
            <a:off x="5878074" y="2928735"/>
            <a:ext cx="5383267" cy="453202"/>
          </a:xfrm>
        </p:spPr>
        <p:txBody>
          <a:bodyPr/>
          <a:lstStyle>
            <a:lvl1pPr algn="l">
              <a:defRPr/>
            </a:lvl1pPr>
          </a:lstStyle>
          <a:p>
            <a:pPr>
              <a:defRPr/>
            </a:pPr>
            <a:fld id="{D7756119-886D-45C1-8B20-9C1746ABEBD7}" type="slidenum">
              <a:rPr lang="en-US" altLang="en-US" smtClean="0"/>
              <a:t>‹#›</a:t>
            </a:fld>
            <a:endParaRPr lang="en-US" altLang="en-US"/>
          </a:p>
        </p:txBody>
      </p:sp>
      <p:cxnSp>
        <p:nvCxnSpPr>
          <p:cNvPr id="12" name="Straight Connector 11" title="Rule Line"/>
          <p:cNvCxnSpPr/>
          <p:nvPr/>
        </p:nvCxnSpPr>
        <p:spPr>
          <a:xfrm>
            <a:off x="6476240" y="571503"/>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zoom dir="in"/>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1D64910A-CC9B-4F11-AE6D-271AB6A158DB}" type="datetime1">
              <a:rPr lang="en-US" altLang="en-US" smtClean="0"/>
              <a:t>5/26/2026</a:t>
            </a:fld>
            <a:endParaRPr lang="en-US" alt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ltLang="en-US"/>
              <a:t>Data structures and algorithms</a:t>
            </a:r>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F29D4075-22D3-4002-B29F-4A095BCCFE2D}" type="slidenum">
              <a:rPr lang="en-US" altLang="en-US"/>
              <a:t>‹#›</a:t>
            </a:fld>
            <a:endParaRPr lang="en-US" altLang="en-US"/>
          </a:p>
        </p:txBody>
      </p:sp>
    </p:spTree>
  </p:cSld>
  <p:clrMapOvr>
    <a:masterClrMapping/>
  </p:clrMapOvr>
  <p:transition spd="med">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title="Feathers"/>
          <p:cNvGrpSpPr/>
          <p:nvPr/>
        </p:nvGrpSpPr>
        <p:grpSpPr>
          <a:xfrm>
            <a:off x="242422" y="723329"/>
            <a:ext cx="3173440"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105030" y="568345"/>
            <a:ext cx="6673174"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200276" y="2438400"/>
            <a:ext cx="6577928" cy="3651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720803" y="6296616"/>
            <a:ext cx="20574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pPr>
              <a:defRPr/>
            </a:pPr>
            <a:fld id="{8B1B4655-23F6-4935-B931-26075EBFABE9}" type="datetime1">
              <a:rPr lang="en-US" altLang="en-US" smtClean="0"/>
              <a:t>5/26/2026</a:t>
            </a:fld>
            <a:endParaRPr lang="en-US" altLang="en-US"/>
          </a:p>
        </p:txBody>
      </p:sp>
      <p:sp>
        <p:nvSpPr>
          <p:cNvPr id="5" name="Footer Placeholder 4"/>
          <p:cNvSpPr>
            <a:spLocks noGrp="1"/>
          </p:cNvSpPr>
          <p:nvPr>
            <p:ph type="ftr" sz="quarter" idx="3"/>
          </p:nvPr>
        </p:nvSpPr>
        <p:spPr>
          <a:xfrm>
            <a:off x="2200276" y="6296616"/>
            <a:ext cx="4250530"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pPr>
              <a:defRPr/>
            </a:pPr>
            <a:r>
              <a:rPr lang="en-US" altLang="en-US"/>
              <a:t>Data structures and algorithms</a:t>
            </a:r>
          </a:p>
        </p:txBody>
      </p:sp>
      <p:sp>
        <p:nvSpPr>
          <p:cNvPr id="6" name="Slide Number Placeholder 5"/>
          <p:cNvSpPr>
            <a:spLocks noGrp="1"/>
          </p:cNvSpPr>
          <p:nvPr>
            <p:ph type="sldNum" sz="quarter" idx="4"/>
          </p:nvPr>
        </p:nvSpPr>
        <p:spPr>
          <a:xfrm>
            <a:off x="285750" y="627886"/>
            <a:ext cx="1413261"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pPr>
              <a:defRPr/>
            </a:pPr>
            <a:fld id="{4F76753B-6A42-423A-9BA9-601E3362E940}" type="slidenum">
              <a:rPr lang="en-US" altLang="en-US" smtClean="0"/>
              <a:t>‹#›</a:t>
            </a:fld>
            <a:endParaRPr lang="en-US" altLang="en-US"/>
          </a:p>
        </p:txBody>
      </p:sp>
      <p:cxnSp>
        <p:nvCxnSpPr>
          <p:cNvPr id="9" name="Straight Connector 8"/>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Rule Line"/>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zoom dir="in"/>
  </p:transition>
  <p:hf sldNum="0" hdr="0"/>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2F55CB4-A8C6-47FA-A0CA-3E47BF05A96F}" type="datetime1">
              <a:rPr lang="en-US" altLang="en-US" smtClean="0"/>
              <a:t>5/26/2026</a:t>
            </a:fld>
            <a:endParaRPr lang="en-US" altLang="en-US" dirty="0"/>
          </a:p>
        </p:txBody>
      </p:sp>
      <p:sp>
        <p:nvSpPr>
          <p:cNvPr id="5" name="Footer Placeholder 4"/>
          <p:cNvSpPr>
            <a:spLocks noGrp="1"/>
          </p:cNvSpPr>
          <p:nvPr>
            <p:ph type="ftr" sz="quarter" idx="11"/>
          </p:nvPr>
        </p:nvSpPr>
        <p:spPr/>
        <p:txBody>
          <a:bodyPr/>
          <a:lstStyle/>
          <a:p>
            <a:pPr>
              <a:defRPr/>
            </a:pPr>
            <a:r>
              <a:rPr lang="en-US" altLang="en-US" dirty="0"/>
              <a:t>Data structures and algorithms</a:t>
            </a:r>
          </a:p>
        </p:txBody>
      </p:sp>
      <p:sp>
        <p:nvSpPr>
          <p:cNvPr id="2050" name="Rectangle 2"/>
          <p:cNvSpPr>
            <a:spLocks noGrp="1" noChangeArrowheads="1"/>
          </p:cNvSpPr>
          <p:nvPr>
            <p:ph type="ctrTitle"/>
          </p:nvPr>
        </p:nvSpPr>
        <p:spPr>
          <a:xfrm>
            <a:off x="5940564" y="1023868"/>
            <a:ext cx="2845259" cy="3349641"/>
          </a:xfrm>
        </p:spPr>
        <p:txBody>
          <a:bodyPr>
            <a:normAutofit fontScale="90000"/>
          </a:bodyPr>
          <a:lstStyle/>
          <a:p>
            <a:pPr algn="ctr" fontAlgn="auto">
              <a:spcAft>
                <a:spcPts val="0"/>
              </a:spcAft>
              <a:defRPr/>
            </a:pPr>
            <a:r>
              <a:rPr lang="en-US" sz="5100" dirty="0">
                <a:effectLst>
                  <a:outerShdw blurRad="38100" dist="38100" dir="2700000" algn="tl">
                    <a:srgbClr val="C0C0C0"/>
                  </a:outerShdw>
                </a:effectLst>
                <a:cs typeface="Times New Roman" panose="02020603050405020304" pitchFamily="18" charset="0"/>
              </a:rPr>
              <a:t>Chapter 1 </a:t>
            </a:r>
            <a:br>
              <a:rPr lang="en-US" sz="5100" dirty="0">
                <a:effectLst>
                  <a:outerShdw blurRad="38100" dist="38100" dir="2700000" algn="tl">
                    <a:srgbClr val="C0C0C0"/>
                  </a:outerShdw>
                </a:effectLst>
                <a:cs typeface="Times New Roman" panose="02020603050405020304" pitchFamily="18" charset="0"/>
              </a:rPr>
            </a:br>
            <a:r>
              <a:rPr lang="en-US" sz="5100" dirty="0">
                <a:effectLst>
                  <a:outerShdw blurRad="38100" dist="38100" dir="2700000" algn="tl">
                    <a:srgbClr val="C0C0C0"/>
                  </a:outerShdw>
                </a:effectLst>
                <a:cs typeface="Times New Roman" panose="02020603050405020304" pitchFamily="18" charset="0"/>
              </a:rPr>
              <a:t>DATA STRUCTURES</a:t>
            </a:r>
            <a:endParaRPr lang="en-GB" sz="5100" dirty="0">
              <a:effectLst>
                <a:outerShdw blurRad="38100" dist="38100" dir="2700000" algn="tl">
                  <a:srgbClr val="C0C0C0"/>
                </a:outerShdw>
              </a:effectLst>
              <a:cs typeface="Times New Roman" panose="02020603050405020304" pitchFamily="18" charset="0"/>
            </a:endParaRPr>
          </a:p>
        </p:txBody>
      </p:sp>
      <p:sp>
        <p:nvSpPr>
          <p:cNvPr id="12291" name="Subtitle 5"/>
          <p:cNvSpPr>
            <a:spLocks noGrp="1"/>
          </p:cNvSpPr>
          <p:nvPr>
            <p:ph type="subTitle" idx="1"/>
          </p:nvPr>
        </p:nvSpPr>
        <p:spPr/>
        <p:txBody>
          <a:bodyPr/>
          <a:lstStyle/>
          <a:p>
            <a:r>
              <a:rPr lang="en-US" dirty="0"/>
              <a:t>INTRODUCTION</a:t>
            </a:r>
          </a:p>
        </p:txBody>
      </p:sp>
    </p:spTree>
  </p:cSld>
  <p:clrMapOvr>
    <a:masterClrMapping/>
  </p:clrMapOvr>
  <p:transition spd="med">
    <p:zoom dir="in"/>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p:txBody>
          <a:bodyPr>
            <a:normAutofit/>
          </a:bodyPr>
          <a:lstStyle/>
          <a:p>
            <a:pPr eaLnBrk="1" fontAlgn="auto" hangingPunct="1">
              <a:spcAft>
                <a:spcPts val="0"/>
              </a:spcAft>
              <a:defRPr/>
            </a:pPr>
            <a:r>
              <a:rPr lang="en-US" sz="3800" dirty="0"/>
              <a:t>INTRODUCTION TO DATA STRUCTURES</a:t>
            </a:r>
          </a:p>
        </p:txBody>
      </p:sp>
      <p:sp>
        <p:nvSpPr>
          <p:cNvPr id="6149" name="Rectangle 5"/>
          <p:cNvSpPr>
            <a:spLocks noGrp="1" noChangeArrowheads="1"/>
          </p:cNvSpPr>
          <p:nvPr>
            <p:ph idx="1"/>
          </p:nvPr>
        </p:nvSpPr>
        <p:spPr/>
        <p:txBody>
          <a:bodyPr/>
          <a:lstStyle/>
          <a:p>
            <a:pPr eaLnBrk="1" hangingPunct="1">
              <a:buFont typeface="Wingdings" panose="05000000000000000000" pitchFamily="2" charset="2"/>
              <a:buNone/>
            </a:pPr>
            <a:r>
              <a:rPr lang="en-US" dirty="0"/>
              <a:t>Summary of Lesson:</a:t>
            </a:r>
          </a:p>
          <a:p>
            <a:pPr eaLnBrk="1" hangingPunct="1"/>
            <a:r>
              <a:rPr lang="en-US" dirty="0"/>
              <a:t>· Uses of Data, Information</a:t>
            </a:r>
          </a:p>
          <a:p>
            <a:pPr eaLnBrk="1" hangingPunct="1"/>
            <a:r>
              <a:rPr lang="en-US" dirty="0"/>
              <a:t>· Introduction to Data Structures</a:t>
            </a:r>
          </a:p>
          <a:p>
            <a:pPr eaLnBrk="1" hangingPunct="1"/>
            <a:r>
              <a:rPr lang="en-US" dirty="0"/>
              <a:t>· Introduction to Abstract Data Types</a:t>
            </a:r>
          </a:p>
        </p:txBody>
      </p:sp>
      <p:sp>
        <p:nvSpPr>
          <p:cNvPr id="6147" name="Date Placeholder 5"/>
          <p:cNvSpPr>
            <a:spLocks noGrp="1"/>
          </p:cNvSpPr>
          <p:nvPr>
            <p:ph type="dt" sz="half" idx="10"/>
          </p:nvPr>
        </p:nvSpPr>
        <p:spPr bwMode="auto">
          <a:noFill/>
          <a:ln>
            <a:miter lim="800000"/>
          </a:ln>
        </p:spPr>
        <p:txBody>
          <a:bodyPr vert="horz" wrap="square" lIns="91440" tIns="45720" rIns="91440" bIns="45720" numCol="1" compatLnSpc="1"/>
          <a:lstStyle/>
          <a:p>
            <a:fld id="{9EC5C42C-B2AC-4303-B0A0-28152884CA79}" type="datetime1">
              <a:rPr lang="en-US" altLang="en-US" smtClean="0"/>
              <a:t>5/26/2026</a:t>
            </a:fld>
            <a:endParaRPr lang="en-US" altLang="en-US" dirty="0"/>
          </a:p>
        </p:txBody>
      </p:sp>
      <p:sp>
        <p:nvSpPr>
          <p:cNvPr id="6148"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dirty="0"/>
              <a:t>The Use of Data</a:t>
            </a:r>
          </a:p>
        </p:txBody>
      </p:sp>
      <p:sp>
        <p:nvSpPr>
          <p:cNvPr id="7173" name="Rectangle 3"/>
          <p:cNvSpPr>
            <a:spLocks noGrp="1" noChangeArrowheads="1"/>
          </p:cNvSpPr>
          <p:nvPr>
            <p:ph idx="1"/>
          </p:nvPr>
        </p:nvSpPr>
        <p:spPr/>
        <p:txBody>
          <a:bodyPr/>
          <a:lstStyle/>
          <a:p>
            <a:pPr eaLnBrk="1" hangingPunct="1"/>
            <a:r>
              <a:rPr lang="en-US" dirty="0"/>
              <a:t>Before starting our discussion on data structures, let us first consider what data are and how they support information systems.</a:t>
            </a:r>
          </a:p>
          <a:p>
            <a:pPr eaLnBrk="1" hangingPunct="1"/>
            <a:endParaRPr lang="en-US" dirty="0"/>
          </a:p>
        </p:txBody>
      </p:sp>
      <p:sp>
        <p:nvSpPr>
          <p:cNvPr id="7171" name="Date Placeholder 6"/>
          <p:cNvSpPr>
            <a:spLocks noGrp="1"/>
          </p:cNvSpPr>
          <p:nvPr>
            <p:ph type="dt" sz="half" idx="10"/>
          </p:nvPr>
        </p:nvSpPr>
        <p:spPr bwMode="auto">
          <a:noFill/>
          <a:ln>
            <a:miter lim="800000"/>
          </a:ln>
        </p:spPr>
        <p:txBody>
          <a:bodyPr vert="horz" wrap="square" lIns="91440" tIns="45720" rIns="91440" bIns="45720" numCol="1" compatLnSpc="1"/>
          <a:lstStyle/>
          <a:p>
            <a:fld id="{9914630B-67DE-41CE-A421-24282BCEFCCA}" type="datetime1">
              <a:rPr lang="en-US" altLang="en-US" smtClean="0"/>
              <a:t>5/26/2026</a:t>
            </a:fld>
            <a:endParaRPr lang="en-US" altLang="en-US" dirty="0"/>
          </a:p>
        </p:txBody>
      </p:sp>
      <p:sp>
        <p:nvSpPr>
          <p:cNvPr id="7172" name="Footer Placeholder 7"/>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pic>
        <p:nvPicPr>
          <p:cNvPr id="7174" name="Picture 4"/>
          <p:cNvPicPr>
            <a:picLocks noChangeAspect="1" noChangeArrowheads="1"/>
          </p:cNvPicPr>
          <p:nvPr/>
        </p:nvPicPr>
        <p:blipFill>
          <a:blip r:embed="rId3" cstate="print"/>
          <a:srcRect/>
          <a:stretch>
            <a:fillRect/>
          </a:stretch>
        </p:blipFill>
        <p:spPr bwMode="auto">
          <a:xfrm>
            <a:off x="2286000" y="3595370"/>
            <a:ext cx="5410200" cy="2576830"/>
          </a:xfrm>
          <a:prstGeom prst="rect">
            <a:avLst/>
          </a:prstGeom>
          <a:noFill/>
          <a:ln w="9525">
            <a:noFill/>
            <a:miter lim="800000"/>
            <a:headEnd/>
            <a:tailEnd/>
          </a:ln>
        </p:spPr>
      </p:pic>
    </p:spTree>
  </p:cSld>
  <p:clrMapOvr>
    <a:masterClrMapping/>
  </p:clrMapOvr>
  <p:transition spd="med">
    <p:zoom dir="in"/>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dirty="0"/>
              <a:t>The Use of Data…..</a:t>
            </a:r>
          </a:p>
        </p:txBody>
      </p:sp>
      <p:sp>
        <p:nvSpPr>
          <p:cNvPr id="8197" name="Rectangle 3"/>
          <p:cNvSpPr>
            <a:spLocks noGrp="1" noChangeArrowheads="1"/>
          </p:cNvSpPr>
          <p:nvPr>
            <p:ph idx="1"/>
          </p:nvPr>
        </p:nvSpPr>
        <p:spPr/>
        <p:txBody>
          <a:bodyPr>
            <a:normAutofit fontScale="85000" lnSpcReduction="20000"/>
          </a:bodyPr>
          <a:lstStyle/>
          <a:p>
            <a:pPr eaLnBrk="1" hangingPunct="1">
              <a:lnSpc>
                <a:spcPct val="90000"/>
              </a:lnSpc>
            </a:pPr>
            <a:r>
              <a:rPr lang="en-US" sz="2100" dirty="0"/>
              <a:t>Fig. above illustrates the roles that data play in the events of any organization. </a:t>
            </a:r>
          </a:p>
          <a:p>
            <a:pPr eaLnBrk="1" hangingPunct="1">
              <a:lnSpc>
                <a:spcPct val="90000"/>
              </a:lnSpc>
            </a:pPr>
            <a:r>
              <a:rPr lang="en-US" sz="2100" dirty="0"/>
              <a:t>The large circle labeled “data” represents the overall data resource of the organization. </a:t>
            </a:r>
          </a:p>
          <a:p>
            <a:pPr eaLnBrk="1" hangingPunct="1">
              <a:lnSpc>
                <a:spcPct val="90000"/>
              </a:lnSpc>
            </a:pPr>
            <a:r>
              <a:rPr lang="en-US" sz="2100" dirty="0"/>
              <a:t>This resource is an active participant in the organization’s operations and planning. The small circles represent individual elements or items of data. </a:t>
            </a:r>
          </a:p>
          <a:p>
            <a:pPr eaLnBrk="1" hangingPunct="1">
              <a:lnSpc>
                <a:spcPct val="90000"/>
              </a:lnSpc>
            </a:pPr>
            <a:r>
              <a:rPr lang="en-US" sz="2100" dirty="0"/>
              <a:t>These elements can be considered to be raw facts. They are aggregated and summarized in various meaningful ways to form information.</a:t>
            </a:r>
          </a:p>
          <a:p>
            <a:pPr eaLnBrk="1" hangingPunct="1">
              <a:lnSpc>
                <a:spcPct val="90000"/>
              </a:lnSpc>
            </a:pPr>
            <a:r>
              <a:rPr lang="en-US" sz="2100" dirty="0"/>
              <a:t>Decisions are made on the basis of this information. The results of decisions are actions, which in turn generate more data. </a:t>
            </a:r>
          </a:p>
          <a:p>
            <a:pPr eaLnBrk="1" hangingPunct="1">
              <a:lnSpc>
                <a:spcPct val="90000"/>
              </a:lnSpc>
            </a:pPr>
            <a:r>
              <a:rPr lang="en-US" sz="2100" dirty="0"/>
              <a:t>These data then can be incorporated into another cycle of the decision making process.</a:t>
            </a:r>
          </a:p>
        </p:txBody>
      </p:sp>
      <p:sp>
        <p:nvSpPr>
          <p:cNvPr id="8195" name="Date Placeholder 5"/>
          <p:cNvSpPr>
            <a:spLocks noGrp="1"/>
          </p:cNvSpPr>
          <p:nvPr>
            <p:ph type="dt" sz="half" idx="10"/>
          </p:nvPr>
        </p:nvSpPr>
        <p:spPr bwMode="auto">
          <a:noFill/>
          <a:ln>
            <a:miter lim="800000"/>
          </a:ln>
        </p:spPr>
        <p:txBody>
          <a:bodyPr vert="horz" wrap="square" lIns="91440" tIns="45720" rIns="91440" bIns="45720" numCol="1" compatLnSpc="1"/>
          <a:lstStyle/>
          <a:p>
            <a:fld id="{44787BDF-0EDF-4A0E-8289-352720BE5899}" type="datetime1">
              <a:rPr lang="en-US" altLang="en-US" smtClean="0"/>
              <a:t>5/26/2026</a:t>
            </a:fld>
            <a:endParaRPr lang="en-US" altLang="en-US" dirty="0"/>
          </a:p>
        </p:txBody>
      </p:sp>
      <p:sp>
        <p:nvSpPr>
          <p:cNvPr id="8196"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dirty="0"/>
              <a:t>The Use of Data….</a:t>
            </a:r>
          </a:p>
        </p:txBody>
      </p:sp>
      <p:sp>
        <p:nvSpPr>
          <p:cNvPr id="9221" name="Rectangle 3"/>
          <p:cNvSpPr>
            <a:spLocks noGrp="1" noChangeArrowheads="1"/>
          </p:cNvSpPr>
          <p:nvPr>
            <p:ph idx="1"/>
          </p:nvPr>
        </p:nvSpPr>
        <p:spPr/>
        <p:txBody>
          <a:bodyPr>
            <a:normAutofit lnSpcReduction="10000"/>
          </a:bodyPr>
          <a:lstStyle/>
          <a:p>
            <a:pPr eaLnBrk="1" hangingPunct="1">
              <a:lnSpc>
                <a:spcPct val="90000"/>
              </a:lnSpc>
            </a:pPr>
            <a:r>
              <a:rPr lang="en-US" sz="2100" dirty="0"/>
              <a:t>Any given data element may participate in the generation of multiple “pieces” of information. It is important that there be flexibility in the ways that data items can be aggregated and summarized, so that meaningful information can be produced to support the decisions at hand. </a:t>
            </a:r>
          </a:p>
          <a:p>
            <a:pPr eaLnBrk="1" hangingPunct="1">
              <a:lnSpc>
                <a:spcPct val="90000"/>
              </a:lnSpc>
            </a:pPr>
            <a:r>
              <a:rPr lang="en-US" sz="2100" dirty="0"/>
              <a:t>Note also that some data elements in an organization’s data resource may have resulted from actions taken by forces or bodies external to the organization. </a:t>
            </a:r>
          </a:p>
          <a:p>
            <a:pPr eaLnBrk="1" hangingPunct="1">
              <a:lnSpc>
                <a:spcPct val="90000"/>
              </a:lnSpc>
            </a:pPr>
            <a:r>
              <a:rPr lang="en-US" sz="2100" dirty="0"/>
              <a:t>The actions of competitors, the behavior of customers or clients, and the forces of legal requirements all enter into an organization’s decision-making process.</a:t>
            </a:r>
          </a:p>
        </p:txBody>
      </p:sp>
      <p:sp>
        <p:nvSpPr>
          <p:cNvPr id="9219" name="Date Placeholder 5"/>
          <p:cNvSpPr>
            <a:spLocks noGrp="1"/>
          </p:cNvSpPr>
          <p:nvPr>
            <p:ph type="dt" sz="half" idx="10"/>
          </p:nvPr>
        </p:nvSpPr>
        <p:spPr bwMode="auto">
          <a:noFill/>
          <a:ln>
            <a:miter lim="800000"/>
          </a:ln>
        </p:spPr>
        <p:txBody>
          <a:bodyPr vert="horz" wrap="square" lIns="91440" tIns="45720" rIns="91440" bIns="45720" numCol="1" compatLnSpc="1"/>
          <a:lstStyle/>
          <a:p>
            <a:fld id="{58229D48-12B0-4D5C-BB12-D31C51783C63}" type="datetime1">
              <a:rPr lang="en-US" altLang="en-US" smtClean="0"/>
              <a:t>5/26/2026</a:t>
            </a:fld>
            <a:endParaRPr lang="en-US" altLang="en-US" dirty="0"/>
          </a:p>
        </p:txBody>
      </p:sp>
      <p:sp>
        <p:nvSpPr>
          <p:cNvPr id="9220"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b="1" dirty="0"/>
              <a:t>Kinds of Decisions</a:t>
            </a:r>
          </a:p>
        </p:txBody>
      </p:sp>
      <p:sp>
        <p:nvSpPr>
          <p:cNvPr id="10245" name="Rectangle 3"/>
          <p:cNvSpPr>
            <a:spLocks noGrp="1" noChangeArrowheads="1"/>
          </p:cNvSpPr>
          <p:nvPr>
            <p:ph idx="1"/>
          </p:nvPr>
        </p:nvSpPr>
        <p:spPr/>
        <p:txBody>
          <a:bodyPr>
            <a:normAutofit fontScale="85000" lnSpcReduction="20000"/>
          </a:bodyPr>
          <a:lstStyle/>
          <a:p>
            <a:pPr eaLnBrk="1" hangingPunct="1">
              <a:lnSpc>
                <a:spcPct val="90000"/>
              </a:lnSpc>
            </a:pPr>
            <a:r>
              <a:rPr lang="en-US" sz="2100" dirty="0"/>
              <a:t>It is convenient to recognize three levels of decisions:</a:t>
            </a:r>
          </a:p>
          <a:p>
            <a:pPr eaLnBrk="1" hangingPunct="1">
              <a:lnSpc>
                <a:spcPct val="90000"/>
              </a:lnSpc>
              <a:buFont typeface="Wingdings" panose="05000000000000000000" pitchFamily="2" charset="2"/>
              <a:buNone/>
            </a:pPr>
            <a:endParaRPr lang="en-US" sz="2100" dirty="0"/>
          </a:p>
          <a:p>
            <a:pPr eaLnBrk="1" hangingPunct="1">
              <a:lnSpc>
                <a:spcPct val="90000"/>
              </a:lnSpc>
            </a:pPr>
            <a:r>
              <a:rPr lang="en-US" sz="2100" b="1" dirty="0"/>
              <a:t>Operational decisions</a:t>
            </a:r>
            <a:r>
              <a:rPr lang="en-US" sz="2100" dirty="0"/>
              <a:t>, which govern the daily activities of</a:t>
            </a:r>
          </a:p>
          <a:p>
            <a:pPr eaLnBrk="1" hangingPunct="1">
              <a:lnSpc>
                <a:spcPct val="90000"/>
              </a:lnSpc>
            </a:pPr>
            <a:r>
              <a:rPr lang="en-US" sz="2100" dirty="0"/>
              <a:t>the organization.</a:t>
            </a:r>
          </a:p>
          <a:p>
            <a:pPr eaLnBrk="1" hangingPunct="1">
              <a:lnSpc>
                <a:spcPct val="90000"/>
              </a:lnSpc>
            </a:pPr>
            <a:endParaRPr lang="en-US" sz="2100" dirty="0"/>
          </a:p>
          <a:p>
            <a:pPr eaLnBrk="1" hangingPunct="1">
              <a:lnSpc>
                <a:spcPct val="90000"/>
              </a:lnSpc>
            </a:pPr>
            <a:r>
              <a:rPr lang="en-US" sz="2100" b="1" dirty="0"/>
              <a:t>Control decisions</a:t>
            </a:r>
            <a:r>
              <a:rPr lang="en-US" sz="2100" dirty="0"/>
              <a:t>, which determine the way the organization executes its designated mission. These decisions are sometimes</a:t>
            </a:r>
          </a:p>
          <a:p>
            <a:pPr eaLnBrk="1" hangingPunct="1">
              <a:lnSpc>
                <a:spcPct val="90000"/>
              </a:lnSpc>
            </a:pPr>
            <a:r>
              <a:rPr lang="en-US" sz="2100" dirty="0"/>
              <a:t>called </a:t>
            </a:r>
            <a:r>
              <a:rPr lang="en-US" sz="2100" b="1" dirty="0"/>
              <a:t>tactical decisions</a:t>
            </a:r>
            <a:r>
              <a:rPr lang="en-US" sz="2100" dirty="0"/>
              <a:t>.</a:t>
            </a:r>
          </a:p>
          <a:p>
            <a:pPr eaLnBrk="1" hangingPunct="1">
              <a:lnSpc>
                <a:spcPct val="90000"/>
              </a:lnSpc>
            </a:pPr>
            <a:endParaRPr lang="en-US" sz="2100" dirty="0"/>
          </a:p>
          <a:p>
            <a:pPr eaLnBrk="1" hangingPunct="1">
              <a:lnSpc>
                <a:spcPct val="90000"/>
              </a:lnSpc>
            </a:pPr>
            <a:r>
              <a:rPr lang="en-US" sz="2100" dirty="0"/>
              <a:t>Planning decisions, which develop and define the organization’s</a:t>
            </a:r>
          </a:p>
          <a:p>
            <a:pPr eaLnBrk="1" hangingPunct="1">
              <a:lnSpc>
                <a:spcPct val="90000"/>
              </a:lnSpc>
            </a:pPr>
            <a:r>
              <a:rPr lang="en-US" sz="2100" dirty="0"/>
              <a:t>mission. These decisions are sometimes termed </a:t>
            </a:r>
            <a:r>
              <a:rPr lang="en-US" sz="2100" b="1" dirty="0"/>
              <a:t>strategic</a:t>
            </a:r>
          </a:p>
          <a:p>
            <a:pPr eaLnBrk="1" hangingPunct="1">
              <a:lnSpc>
                <a:spcPct val="90000"/>
              </a:lnSpc>
            </a:pPr>
            <a:r>
              <a:rPr lang="en-US" sz="2100" b="1" dirty="0"/>
              <a:t>decisions</a:t>
            </a:r>
            <a:r>
              <a:rPr lang="en-US" sz="2100" dirty="0"/>
              <a:t>.</a:t>
            </a:r>
          </a:p>
        </p:txBody>
      </p:sp>
      <p:sp>
        <p:nvSpPr>
          <p:cNvPr id="10243" name="Date Placeholder 5"/>
          <p:cNvSpPr>
            <a:spLocks noGrp="1"/>
          </p:cNvSpPr>
          <p:nvPr>
            <p:ph type="dt" sz="half" idx="10"/>
          </p:nvPr>
        </p:nvSpPr>
        <p:spPr bwMode="auto">
          <a:noFill/>
          <a:ln>
            <a:miter lim="800000"/>
          </a:ln>
        </p:spPr>
        <p:txBody>
          <a:bodyPr vert="horz" wrap="square" lIns="91440" tIns="45720" rIns="91440" bIns="45720" numCol="1" compatLnSpc="1"/>
          <a:lstStyle/>
          <a:p>
            <a:fld id="{13110454-89BA-450D-9922-F4BD802AF32E}" type="datetime1">
              <a:rPr lang="en-US" altLang="en-US" smtClean="0"/>
              <a:t>5/26/2026</a:t>
            </a:fld>
            <a:endParaRPr lang="en-US" altLang="en-US" dirty="0"/>
          </a:p>
        </p:txBody>
      </p:sp>
      <p:sp>
        <p:nvSpPr>
          <p:cNvPr id="10244"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Data Management</a:t>
            </a:r>
          </a:p>
        </p:txBody>
      </p:sp>
      <p:sp>
        <p:nvSpPr>
          <p:cNvPr id="11269" name="Rectangle 3"/>
          <p:cNvSpPr>
            <a:spLocks noGrp="1" noChangeArrowheads="1"/>
          </p:cNvSpPr>
          <p:nvPr>
            <p:ph idx="1"/>
          </p:nvPr>
        </p:nvSpPr>
        <p:spPr/>
        <p:txBody>
          <a:bodyPr>
            <a:normAutofit fontScale="92500" lnSpcReduction="20000"/>
          </a:bodyPr>
          <a:lstStyle/>
          <a:p>
            <a:pPr eaLnBrk="1" hangingPunct="1">
              <a:lnSpc>
                <a:spcPct val="80000"/>
              </a:lnSpc>
            </a:pPr>
            <a:r>
              <a:rPr lang="en-US" sz="1900" dirty="0"/>
              <a:t>Data is expensive. It must be managed in such a way that they are correct and are available to produce needed information. Aspects of data handling include the following:</a:t>
            </a:r>
          </a:p>
          <a:p>
            <a:pPr eaLnBrk="1" hangingPunct="1">
              <a:lnSpc>
                <a:spcPct val="80000"/>
              </a:lnSpc>
            </a:pPr>
            <a:r>
              <a:rPr lang="en-US" sz="1900" dirty="0"/>
              <a:t>· Measurement</a:t>
            </a:r>
          </a:p>
          <a:p>
            <a:pPr eaLnBrk="1" hangingPunct="1">
              <a:lnSpc>
                <a:spcPct val="80000"/>
              </a:lnSpc>
            </a:pPr>
            <a:r>
              <a:rPr lang="en-US" sz="1900" dirty="0"/>
              <a:t>· Collection</a:t>
            </a:r>
          </a:p>
          <a:p>
            <a:pPr eaLnBrk="1" hangingPunct="1">
              <a:lnSpc>
                <a:spcPct val="80000"/>
              </a:lnSpc>
            </a:pPr>
            <a:r>
              <a:rPr lang="en-US" sz="1900" dirty="0"/>
              <a:t>· Transcription</a:t>
            </a:r>
          </a:p>
          <a:p>
            <a:pPr eaLnBrk="1" hangingPunct="1">
              <a:lnSpc>
                <a:spcPct val="80000"/>
              </a:lnSpc>
            </a:pPr>
            <a:r>
              <a:rPr lang="en-US" sz="1900" dirty="0"/>
              <a:t>· Validation</a:t>
            </a:r>
          </a:p>
          <a:p>
            <a:pPr eaLnBrk="1" hangingPunct="1">
              <a:lnSpc>
                <a:spcPct val="80000"/>
              </a:lnSpc>
            </a:pPr>
            <a:r>
              <a:rPr lang="en-US" sz="1900" dirty="0"/>
              <a:t>· Organization</a:t>
            </a:r>
          </a:p>
          <a:p>
            <a:pPr eaLnBrk="1" hangingPunct="1">
              <a:lnSpc>
                <a:spcPct val="80000"/>
              </a:lnSpc>
            </a:pPr>
            <a:r>
              <a:rPr lang="en-US" sz="1900" dirty="0"/>
              <a:t>· Storage</a:t>
            </a:r>
          </a:p>
          <a:p>
            <a:pPr eaLnBrk="1" hangingPunct="1">
              <a:lnSpc>
                <a:spcPct val="80000"/>
              </a:lnSpc>
            </a:pPr>
            <a:r>
              <a:rPr lang="en-US" sz="1900" dirty="0"/>
              <a:t>· Aggregation</a:t>
            </a:r>
          </a:p>
          <a:p>
            <a:pPr eaLnBrk="1" hangingPunct="1">
              <a:lnSpc>
                <a:spcPct val="80000"/>
              </a:lnSpc>
            </a:pPr>
            <a:r>
              <a:rPr lang="en-US" sz="1900" dirty="0"/>
              <a:t>· Update</a:t>
            </a:r>
          </a:p>
          <a:p>
            <a:pPr eaLnBrk="1" hangingPunct="1">
              <a:lnSpc>
                <a:spcPct val="80000"/>
              </a:lnSpc>
            </a:pPr>
            <a:r>
              <a:rPr lang="en-US" sz="1900" dirty="0"/>
              <a:t>· Retrieval</a:t>
            </a:r>
          </a:p>
          <a:p>
            <a:pPr eaLnBrk="1" hangingPunct="1">
              <a:lnSpc>
                <a:spcPct val="80000"/>
              </a:lnSpc>
            </a:pPr>
            <a:r>
              <a:rPr lang="en-US" sz="1900" dirty="0"/>
              <a:t>· Protection</a:t>
            </a:r>
          </a:p>
        </p:txBody>
      </p:sp>
      <p:sp>
        <p:nvSpPr>
          <p:cNvPr id="11267" name="Date Placeholder 5"/>
          <p:cNvSpPr>
            <a:spLocks noGrp="1"/>
          </p:cNvSpPr>
          <p:nvPr>
            <p:ph type="dt" sz="half" idx="10"/>
          </p:nvPr>
        </p:nvSpPr>
        <p:spPr bwMode="auto">
          <a:noFill/>
          <a:ln>
            <a:miter lim="800000"/>
          </a:ln>
        </p:spPr>
        <p:txBody>
          <a:bodyPr vert="horz" wrap="square" lIns="91440" tIns="45720" rIns="91440" bIns="45720" numCol="1" compatLnSpc="1"/>
          <a:lstStyle/>
          <a:p>
            <a:fld id="{9142E1E5-E0AC-4BDB-A2A3-DAAA01DFD352}" type="datetime1">
              <a:rPr lang="en-US" altLang="en-US" smtClean="0"/>
              <a:t>5/26/2026</a:t>
            </a:fld>
            <a:endParaRPr lang="en-US" altLang="en-US" dirty="0"/>
          </a:p>
        </p:txBody>
      </p:sp>
      <p:sp>
        <p:nvSpPr>
          <p:cNvPr id="11268"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b="1" dirty="0"/>
              <a:t>Data Management Objectives</a:t>
            </a:r>
          </a:p>
        </p:txBody>
      </p:sp>
      <p:sp>
        <p:nvSpPr>
          <p:cNvPr id="12293" name="Rectangle 3"/>
          <p:cNvSpPr>
            <a:spLocks noGrp="1" noChangeArrowheads="1"/>
          </p:cNvSpPr>
          <p:nvPr>
            <p:ph idx="1"/>
          </p:nvPr>
        </p:nvSpPr>
        <p:spPr/>
        <p:txBody>
          <a:bodyPr>
            <a:normAutofit lnSpcReduction="10000"/>
          </a:bodyPr>
          <a:lstStyle/>
          <a:p>
            <a:pPr marL="495300" indent="-495300" eaLnBrk="1" hangingPunct="1">
              <a:lnSpc>
                <a:spcPct val="80000"/>
              </a:lnSpc>
            </a:pPr>
            <a:r>
              <a:rPr lang="en-US" dirty="0"/>
              <a:t>The objective of a data management system is to make the data resource resilient, flexible, and adaptable to supporting an organization’s decision-making processes. </a:t>
            </a:r>
          </a:p>
          <a:p>
            <a:pPr marL="495300" indent="-495300" eaLnBrk="1" hangingPunct="1">
              <a:lnSpc>
                <a:spcPct val="80000"/>
              </a:lnSpc>
            </a:pPr>
            <a:r>
              <a:rPr lang="en-US" dirty="0"/>
              <a:t>Four useful guidelines for a data management system are:-</a:t>
            </a:r>
          </a:p>
          <a:p>
            <a:pPr marL="763905" lvl="1" indent="-419100" eaLnBrk="1" hangingPunct="1">
              <a:lnSpc>
                <a:spcPct val="80000"/>
              </a:lnSpc>
              <a:buFont typeface="Wingdings" panose="05000000000000000000" pitchFamily="2" charset="2"/>
              <a:buAutoNum type="arabicPeriod"/>
            </a:pPr>
            <a:r>
              <a:rPr lang="en-US" sz="2200" dirty="0"/>
              <a:t>Data must be represented and stored so that they can be accessed later.</a:t>
            </a:r>
          </a:p>
          <a:p>
            <a:pPr marL="763905" lvl="1" indent="-419100" eaLnBrk="1" hangingPunct="1">
              <a:lnSpc>
                <a:spcPct val="80000"/>
              </a:lnSpc>
              <a:buFont typeface="Wingdings" panose="05000000000000000000" pitchFamily="2" charset="2"/>
              <a:buAutoNum type="arabicPeriod"/>
            </a:pPr>
            <a:r>
              <a:rPr lang="en-US" sz="2200" dirty="0"/>
              <a:t>Data must be organized so that they can be selectively and efficiently accessed.</a:t>
            </a:r>
          </a:p>
          <a:p>
            <a:pPr marL="763905" lvl="1" indent="-419100" eaLnBrk="1" hangingPunct="1">
              <a:lnSpc>
                <a:spcPct val="80000"/>
              </a:lnSpc>
              <a:buFont typeface="Wingdings" panose="05000000000000000000" pitchFamily="2" charset="2"/>
              <a:buAutoNum type="arabicPeriod"/>
            </a:pPr>
            <a:r>
              <a:rPr lang="en-US" sz="2200" dirty="0"/>
              <a:t>Data must be processed and presented so that they support the user environment effectively.</a:t>
            </a:r>
          </a:p>
          <a:p>
            <a:pPr marL="763905" lvl="1" indent="-419100" eaLnBrk="1" hangingPunct="1">
              <a:lnSpc>
                <a:spcPct val="80000"/>
              </a:lnSpc>
              <a:buFont typeface="Wingdings" panose="05000000000000000000" pitchFamily="2" charset="2"/>
              <a:buAutoNum type="arabicPeriod"/>
            </a:pPr>
            <a:r>
              <a:rPr lang="en-US" sz="2200" dirty="0"/>
              <a:t>Data must be protected and managed so that they retain their value.</a:t>
            </a:r>
          </a:p>
        </p:txBody>
      </p:sp>
      <p:sp>
        <p:nvSpPr>
          <p:cNvPr id="12291" name="Date Placeholder 5"/>
          <p:cNvSpPr>
            <a:spLocks noGrp="1"/>
          </p:cNvSpPr>
          <p:nvPr>
            <p:ph type="dt" sz="half" idx="10"/>
          </p:nvPr>
        </p:nvSpPr>
        <p:spPr bwMode="auto">
          <a:noFill/>
          <a:ln>
            <a:miter lim="800000"/>
          </a:ln>
        </p:spPr>
        <p:txBody>
          <a:bodyPr vert="horz" wrap="square" lIns="91440" tIns="45720" rIns="91440" bIns="45720" numCol="1" compatLnSpc="1"/>
          <a:lstStyle/>
          <a:p>
            <a:fld id="{64D631E3-9131-4090-88DB-EA13E3184C85}" type="datetime1">
              <a:rPr lang="en-US" altLang="en-US" smtClean="0"/>
              <a:t>5/26/2026</a:t>
            </a:fld>
            <a:endParaRPr lang="en-US" altLang="en-US" dirty="0"/>
          </a:p>
        </p:txBody>
      </p:sp>
      <p:sp>
        <p:nvSpPr>
          <p:cNvPr id="12292"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dirty="0"/>
              <a:t>Introduction to Data Structures</a:t>
            </a:r>
          </a:p>
        </p:txBody>
      </p:sp>
      <p:sp>
        <p:nvSpPr>
          <p:cNvPr id="13317" name="Rectangle 3"/>
          <p:cNvSpPr>
            <a:spLocks noGrp="1" noChangeArrowheads="1"/>
          </p:cNvSpPr>
          <p:nvPr>
            <p:ph idx="1"/>
          </p:nvPr>
        </p:nvSpPr>
        <p:spPr/>
        <p:txBody>
          <a:bodyPr>
            <a:normAutofit fontScale="92500" lnSpcReduction="20000"/>
          </a:bodyPr>
          <a:lstStyle/>
          <a:p>
            <a:pPr eaLnBrk="1" hangingPunct="1">
              <a:lnSpc>
                <a:spcPct val="80000"/>
              </a:lnSpc>
            </a:pPr>
            <a:r>
              <a:rPr lang="en-US" sz="2100" dirty="0"/>
              <a:t>Knowledge of data structures is required of people who design and develop computer programs of any kind: systems software or applications software.</a:t>
            </a:r>
          </a:p>
          <a:p>
            <a:pPr eaLnBrk="1" hangingPunct="1">
              <a:lnSpc>
                <a:spcPct val="80000"/>
              </a:lnSpc>
              <a:buFont typeface="Wingdings" panose="05000000000000000000" pitchFamily="2" charset="2"/>
              <a:buNone/>
            </a:pPr>
            <a:endParaRPr lang="en-US" sz="2100" dirty="0"/>
          </a:p>
          <a:p>
            <a:pPr eaLnBrk="1" hangingPunct="1">
              <a:lnSpc>
                <a:spcPct val="80000"/>
              </a:lnSpc>
            </a:pPr>
            <a:r>
              <a:rPr lang="en-US" sz="2100" dirty="0"/>
              <a:t>Data are represented by data values held temporarily within program’s data area or recorded permanently on a file.</a:t>
            </a:r>
          </a:p>
          <a:p>
            <a:pPr eaLnBrk="1" hangingPunct="1">
              <a:lnSpc>
                <a:spcPct val="80000"/>
              </a:lnSpc>
              <a:buFont typeface="Wingdings" panose="05000000000000000000" pitchFamily="2" charset="2"/>
              <a:buNone/>
            </a:pPr>
            <a:endParaRPr lang="en-US" sz="2100" dirty="0"/>
          </a:p>
          <a:p>
            <a:pPr eaLnBrk="1" hangingPunct="1">
              <a:lnSpc>
                <a:spcPct val="80000"/>
              </a:lnSpc>
            </a:pPr>
            <a:r>
              <a:rPr lang="en-US" sz="2100" dirty="0"/>
              <a:t>Often the different data values are related to each other.</a:t>
            </a:r>
          </a:p>
          <a:p>
            <a:pPr eaLnBrk="1" hangingPunct="1">
              <a:lnSpc>
                <a:spcPct val="80000"/>
              </a:lnSpc>
              <a:buFont typeface="Wingdings" panose="05000000000000000000" pitchFamily="2" charset="2"/>
              <a:buNone/>
            </a:pPr>
            <a:r>
              <a:rPr lang="en-US" sz="2100" dirty="0"/>
              <a:t> </a:t>
            </a:r>
          </a:p>
          <a:p>
            <a:pPr eaLnBrk="1" hangingPunct="1">
              <a:lnSpc>
                <a:spcPct val="80000"/>
              </a:lnSpc>
            </a:pPr>
            <a:r>
              <a:rPr lang="en-US" sz="2100" dirty="0"/>
              <a:t>To enable programs to make use of these relationships, these data values must be in an organized form.</a:t>
            </a:r>
          </a:p>
          <a:p>
            <a:pPr eaLnBrk="1" hangingPunct="1">
              <a:lnSpc>
                <a:spcPct val="80000"/>
              </a:lnSpc>
            </a:pPr>
            <a:r>
              <a:rPr lang="en-US" sz="2100" dirty="0"/>
              <a:t>The main goal of computer is to store and retrieve data as quickly  as possible.</a:t>
            </a:r>
          </a:p>
          <a:p>
            <a:pPr eaLnBrk="1" hangingPunct="1">
              <a:lnSpc>
                <a:spcPct val="80000"/>
              </a:lnSpc>
              <a:buFont typeface="Wingdings" panose="05000000000000000000" pitchFamily="2" charset="2"/>
              <a:buNone/>
            </a:pPr>
            <a:r>
              <a:rPr lang="en-US" sz="2100" dirty="0"/>
              <a:t> </a:t>
            </a:r>
          </a:p>
        </p:txBody>
      </p:sp>
      <p:sp>
        <p:nvSpPr>
          <p:cNvPr id="13315" name="Date Placeholder 5"/>
          <p:cNvSpPr>
            <a:spLocks noGrp="1"/>
          </p:cNvSpPr>
          <p:nvPr>
            <p:ph type="dt" sz="half" idx="10"/>
          </p:nvPr>
        </p:nvSpPr>
        <p:spPr bwMode="auto">
          <a:noFill/>
          <a:ln>
            <a:miter lim="800000"/>
          </a:ln>
        </p:spPr>
        <p:txBody>
          <a:bodyPr vert="horz" wrap="square" lIns="91440" tIns="45720" rIns="91440" bIns="45720" numCol="1" compatLnSpc="1"/>
          <a:lstStyle/>
          <a:p>
            <a:fld id="{884E23C0-A216-4EE2-A2D1-F1A54575C6FE}" type="datetime1">
              <a:rPr lang="en-US" altLang="en-US" smtClean="0"/>
              <a:t>5/26/2026</a:t>
            </a:fld>
            <a:endParaRPr lang="en-US" altLang="en-US" dirty="0"/>
          </a:p>
        </p:txBody>
      </p:sp>
      <p:sp>
        <p:nvSpPr>
          <p:cNvPr id="13316"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Definition</a:t>
            </a:r>
          </a:p>
        </p:txBody>
      </p:sp>
      <p:sp>
        <p:nvSpPr>
          <p:cNvPr id="3" name="Content Placeholder 2"/>
          <p:cNvSpPr>
            <a:spLocks noGrp="1"/>
          </p:cNvSpPr>
          <p:nvPr>
            <p:ph idx="1"/>
          </p:nvPr>
        </p:nvSpPr>
        <p:spPr/>
        <p:txBody>
          <a:bodyPr>
            <a:normAutofit fontScale="92500" lnSpcReduction="10000"/>
          </a:bodyPr>
          <a:lstStyle/>
          <a:p>
            <a:r>
              <a:rPr lang="en-US" sz="3200" dirty="0"/>
              <a:t>The organized collection of data is called a data structure. Computer programs have to follow certain rules to access and process the structured data.</a:t>
            </a:r>
          </a:p>
          <a:p>
            <a:r>
              <a:rPr lang="en-US" sz="3200" dirty="0"/>
              <a:t>It is any data representation and its associated operations.</a:t>
            </a:r>
          </a:p>
          <a:p>
            <a:endParaRPr lang="en-US" sz="3200" dirty="0"/>
          </a:p>
          <a:p>
            <a:endParaRPr lang="en-GB" dirty="0"/>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Selecting a data structure</a:t>
            </a:r>
          </a:p>
        </p:txBody>
      </p:sp>
      <p:sp>
        <p:nvSpPr>
          <p:cNvPr id="3" name="Content Placeholder 2"/>
          <p:cNvSpPr>
            <a:spLocks noGrp="1"/>
          </p:cNvSpPr>
          <p:nvPr>
            <p:ph idx="1"/>
          </p:nvPr>
        </p:nvSpPr>
        <p:spPr/>
        <p:txBody>
          <a:bodyPr/>
          <a:lstStyle/>
          <a:p>
            <a:r>
              <a:rPr lang="en-GB" dirty="0"/>
              <a:t>In selecting a data structure we must take into consideration : </a:t>
            </a:r>
          </a:p>
          <a:p>
            <a:pPr marL="571500" indent="-571500">
              <a:buFont typeface="+mj-lt"/>
              <a:buAutoNum type="romanUcPeriod"/>
            </a:pPr>
            <a:r>
              <a:rPr lang="en-GB" dirty="0"/>
              <a:t>Determine the basic operations that must be supported. E.g. deletion, insertion </a:t>
            </a:r>
            <a:r>
              <a:rPr lang="en-GB" dirty="0" err="1"/>
              <a:t>etc</a:t>
            </a:r>
            <a:endParaRPr lang="en-GB" dirty="0"/>
          </a:p>
          <a:p>
            <a:pPr marL="571500" indent="-571500">
              <a:buFont typeface="+mj-lt"/>
              <a:buAutoNum type="romanUcPeriod"/>
            </a:pPr>
            <a:r>
              <a:rPr lang="en-GB" dirty="0"/>
              <a:t>How the data will be represented</a:t>
            </a:r>
          </a:p>
          <a:p>
            <a:pPr marL="571500" indent="-571500">
              <a:buFont typeface="+mj-lt"/>
              <a:buAutoNum type="romanUcPeriod"/>
            </a:pPr>
            <a:r>
              <a:rPr lang="en-GB" dirty="0"/>
              <a:t>How the data will be implemented  </a:t>
            </a:r>
          </a:p>
          <a:p>
            <a:pPr marL="571500" indent="-571500">
              <a:buFont typeface="+mj-lt"/>
              <a:buAutoNum type="romanUcPeriod"/>
            </a:pPr>
            <a:endParaRPr lang="en-GB" dirty="0"/>
          </a:p>
          <a:p>
            <a:endParaRPr lang="en-GB" dirty="0"/>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data structures</a:t>
            </a:r>
          </a:p>
        </p:txBody>
      </p:sp>
      <p:sp>
        <p:nvSpPr>
          <p:cNvPr id="3" name="Content Placeholder 2"/>
          <p:cNvSpPr>
            <a:spLocks noGrp="1"/>
          </p:cNvSpPr>
          <p:nvPr>
            <p:ph idx="1"/>
          </p:nvPr>
        </p:nvSpPr>
        <p:spPr/>
        <p:txBody>
          <a:bodyPr/>
          <a:lstStyle/>
          <a:p>
            <a:r>
              <a:rPr lang="en-GB" dirty="0"/>
              <a:t>There are costs and benefits to each data structure.</a:t>
            </a:r>
          </a:p>
          <a:p>
            <a:r>
              <a:rPr lang="en-GB" dirty="0"/>
              <a:t>It requires space to store the data, time to perform data operations and as well as programming effort. </a:t>
            </a:r>
          </a:p>
          <a:p>
            <a:r>
              <a:rPr lang="en-GB" dirty="0"/>
              <a:t>All data structures have constraints on time and space. </a:t>
            </a:r>
          </a:p>
          <a:p>
            <a:r>
              <a:rPr lang="en-GB" dirty="0"/>
              <a:t>The characteristics of the problem determines the best data structure for the task at hand.</a:t>
            </a:r>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dirty="0"/>
              <a:t>Introduction to Data Structures</a:t>
            </a:r>
          </a:p>
        </p:txBody>
      </p:sp>
      <p:sp>
        <p:nvSpPr>
          <p:cNvPr id="14341" name="Rectangle 3"/>
          <p:cNvSpPr>
            <a:spLocks noGrp="1" noChangeArrowheads="1"/>
          </p:cNvSpPr>
          <p:nvPr>
            <p:ph idx="1"/>
          </p:nvPr>
        </p:nvSpPr>
        <p:spPr/>
        <p:txBody>
          <a:bodyPr/>
          <a:lstStyle/>
          <a:p>
            <a:pPr eaLnBrk="1" hangingPunct="1">
              <a:lnSpc>
                <a:spcPct val="90000"/>
              </a:lnSpc>
            </a:pPr>
            <a:r>
              <a:rPr lang="en-US" dirty="0"/>
              <a:t>We may, therefore, say data are represented that:</a:t>
            </a:r>
          </a:p>
          <a:p>
            <a:pPr eaLnBrk="1" hangingPunct="1">
              <a:lnSpc>
                <a:spcPct val="90000"/>
              </a:lnSpc>
            </a:pPr>
            <a:r>
              <a:rPr lang="en-US" dirty="0"/>
              <a:t>Data Structure = Organized Data + Allowed Operations.</a:t>
            </a:r>
          </a:p>
          <a:p>
            <a:pPr eaLnBrk="1" hangingPunct="1">
              <a:lnSpc>
                <a:spcPct val="90000"/>
              </a:lnSpc>
            </a:pPr>
            <a:r>
              <a:rPr lang="en-US" dirty="0"/>
              <a:t>This is an extension of the concept of data type. </a:t>
            </a:r>
          </a:p>
          <a:p>
            <a:pPr eaLnBrk="1" hangingPunct="1">
              <a:lnSpc>
                <a:spcPct val="90000"/>
              </a:lnSpc>
            </a:pPr>
            <a:r>
              <a:rPr lang="en-US" dirty="0"/>
              <a:t>We defined a data type as:</a:t>
            </a:r>
          </a:p>
          <a:p>
            <a:pPr eaLnBrk="1" hangingPunct="1"/>
            <a:r>
              <a:rPr lang="en-US" dirty="0"/>
              <a:t>Data Type = Permitted Data Values + Operations </a:t>
            </a:r>
            <a:r>
              <a:rPr lang="en-GB" dirty="0"/>
              <a:t>standard</a:t>
            </a:r>
          </a:p>
          <a:p>
            <a:pPr marL="0" indent="0" eaLnBrk="1" hangingPunct="1">
              <a:buNone/>
            </a:pPr>
            <a:endParaRPr lang="en-US" dirty="0"/>
          </a:p>
        </p:txBody>
      </p:sp>
      <p:sp>
        <p:nvSpPr>
          <p:cNvPr id="14339" name="Date Placeholder 5"/>
          <p:cNvSpPr>
            <a:spLocks noGrp="1"/>
          </p:cNvSpPr>
          <p:nvPr>
            <p:ph type="dt" sz="half" idx="10"/>
          </p:nvPr>
        </p:nvSpPr>
        <p:spPr bwMode="auto">
          <a:noFill/>
          <a:ln>
            <a:miter lim="800000"/>
          </a:ln>
        </p:spPr>
        <p:txBody>
          <a:bodyPr vert="horz" wrap="square" lIns="91440" tIns="45720" rIns="91440" bIns="45720" numCol="1" compatLnSpc="1"/>
          <a:lstStyle/>
          <a:p>
            <a:fld id="{C89B2B02-3BF6-4854-8E7E-70D69F74DD37}" type="datetime1">
              <a:rPr lang="en-US" altLang="en-US" smtClean="0"/>
              <a:t>5/26/2026</a:t>
            </a:fld>
            <a:endParaRPr lang="en-US" altLang="en-US" dirty="0"/>
          </a:p>
        </p:txBody>
      </p:sp>
      <p:sp>
        <p:nvSpPr>
          <p:cNvPr id="14340"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lstStyle/>
          <a:p>
            <a:pPr eaLnBrk="1" hangingPunct="1"/>
            <a:r>
              <a:rPr lang="en-GB" dirty="0"/>
              <a:t>Data structures which are often used in their own right and can form the basis for complex data structures, like Arrays, are basic building block for more complex data structures.</a:t>
            </a:r>
          </a:p>
          <a:p>
            <a:pPr eaLnBrk="1" hangingPunct="1"/>
            <a:r>
              <a:rPr lang="en-GB" dirty="0"/>
              <a:t>Designing and using data structures is an important programming skill. </a:t>
            </a:r>
            <a:endParaRPr lang="en-US" dirty="0"/>
          </a:p>
          <a:p>
            <a:endParaRPr lang="en-GB" dirty="0"/>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Why are data structures required?</a:t>
            </a:r>
            <a:br>
              <a:rPr lang="en-GB" b="1" dirty="0"/>
            </a:br>
            <a:endParaRPr lang="en-GB" dirty="0"/>
          </a:p>
        </p:txBody>
      </p:sp>
      <p:sp>
        <p:nvSpPr>
          <p:cNvPr id="6" name="Content Placeholder 5"/>
          <p:cNvSpPr>
            <a:spLocks noGrp="1"/>
          </p:cNvSpPr>
          <p:nvPr>
            <p:ph idx="1"/>
          </p:nvPr>
        </p:nvSpPr>
        <p:spPr/>
        <p:txBody>
          <a:bodyPr>
            <a:normAutofit/>
          </a:bodyPr>
          <a:lstStyle/>
          <a:p>
            <a:r>
              <a:rPr lang="en-GB" dirty="0"/>
              <a:t>The choice of a particular data model depends on two considerations.</a:t>
            </a:r>
          </a:p>
          <a:p>
            <a:r>
              <a:rPr lang="en-GB" dirty="0"/>
              <a:t> First, it must be rich enough in structure to mirror the actual relationships of the data in the real world.</a:t>
            </a:r>
          </a:p>
          <a:p>
            <a:r>
              <a:rPr lang="en-GB" dirty="0"/>
              <a:t>Secondly the structure should be simple enough that one can effectively process the data when necessary.</a:t>
            </a:r>
            <a:endParaRPr lang="en-GB" b="1" dirty="0"/>
          </a:p>
          <a:p>
            <a:endParaRPr lang="en-GB" dirty="0"/>
          </a:p>
          <a:p>
            <a:endParaRPr lang="en-GB" dirty="0"/>
          </a:p>
        </p:txBody>
      </p:sp>
      <p:sp>
        <p:nvSpPr>
          <p:cNvPr id="3" name="Date Placeholder 2"/>
          <p:cNvSpPr>
            <a:spLocks noGrp="1"/>
          </p:cNvSpPr>
          <p:nvPr>
            <p:ph type="dt" sz="half" idx="10"/>
          </p:nvPr>
        </p:nvSpPr>
        <p:spPr/>
        <p:txBody>
          <a:bodyPr/>
          <a:lstStyle/>
          <a:p>
            <a:fld id="{8FC78211-8E8F-4423-BF41-BA3DB8A642C9}" type="datetime1">
              <a:rPr lang="en-US" smtClean="0"/>
              <a:t>5/26/2026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15</a:t>
            </a:fld>
            <a:endParaRPr lang="en-GB"/>
          </a:p>
        </p:txBody>
      </p:sp>
    </p:spTree>
  </p:cSld>
  <p:clrMapOvr>
    <a:masterClrMapping/>
  </p:clrMapOvr>
  <p:transition spd="med">
    <p:zoom dir="in"/>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Structure Operations</a:t>
            </a:r>
          </a:p>
        </p:txBody>
      </p:sp>
      <p:sp>
        <p:nvSpPr>
          <p:cNvPr id="6" name="Content Placeholder 5"/>
          <p:cNvSpPr>
            <a:spLocks noGrp="1"/>
          </p:cNvSpPr>
          <p:nvPr>
            <p:ph idx="1"/>
          </p:nvPr>
        </p:nvSpPr>
        <p:spPr/>
        <p:txBody>
          <a:bodyPr>
            <a:normAutofit/>
          </a:bodyPr>
          <a:lstStyle/>
          <a:p>
            <a:r>
              <a:rPr lang="en-GB" dirty="0"/>
              <a:t>The data appearing in our data structures are processed by means of certain operations.</a:t>
            </a:r>
          </a:p>
          <a:p>
            <a:r>
              <a:rPr lang="en-GB" dirty="0"/>
              <a:t> In fact, the particular data structure that one chooses for a given situation depends largely on the frequency with which specific operations are performed.</a:t>
            </a:r>
          </a:p>
          <a:p>
            <a:r>
              <a:rPr lang="en-GB" dirty="0"/>
              <a:t>The following are the major operations performed on data structures:</a:t>
            </a:r>
          </a:p>
        </p:txBody>
      </p:sp>
      <p:sp>
        <p:nvSpPr>
          <p:cNvPr id="3" name="Date Placeholder 2"/>
          <p:cNvSpPr>
            <a:spLocks noGrp="1"/>
          </p:cNvSpPr>
          <p:nvPr>
            <p:ph type="dt" sz="half" idx="10"/>
          </p:nvPr>
        </p:nvSpPr>
        <p:spPr/>
        <p:txBody>
          <a:bodyPr/>
          <a:lstStyle/>
          <a:p>
            <a:fld id="{E3F59E6B-4522-4C23-BC4E-766BEE55EBFA}" type="datetime1">
              <a:rPr lang="en-US" smtClean="0"/>
              <a:t>5/26/2026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16</a:t>
            </a:fld>
            <a:endParaRPr lang="en-GB"/>
          </a:p>
        </p:txBody>
      </p:sp>
    </p:spTree>
  </p:cSld>
  <p:clrMapOvr>
    <a:masterClrMapping/>
  </p:clrMapOvr>
  <p:transition spd="med">
    <p:zoom dir="in"/>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Major operations</a:t>
            </a:r>
          </a:p>
        </p:txBody>
      </p:sp>
      <p:sp>
        <p:nvSpPr>
          <p:cNvPr id="6" name="Content Placeholder 5"/>
          <p:cNvSpPr>
            <a:spLocks noGrp="1"/>
          </p:cNvSpPr>
          <p:nvPr>
            <p:ph idx="1"/>
          </p:nvPr>
        </p:nvSpPr>
        <p:spPr/>
        <p:txBody>
          <a:bodyPr>
            <a:normAutofit/>
          </a:bodyPr>
          <a:lstStyle/>
          <a:p>
            <a:r>
              <a:rPr lang="en-GB" b="1" dirty="0"/>
              <a:t>(1)Traversing: Accessing each record exactly once so that certain </a:t>
            </a:r>
            <a:r>
              <a:rPr lang="en-GB" dirty="0"/>
              <a:t>items in the record may be processed. (This accessing and processing is sometimes called “visiting” the record.)</a:t>
            </a:r>
          </a:p>
          <a:p>
            <a:r>
              <a:rPr lang="en-GB" b="1" dirty="0"/>
              <a:t>(2)Searching: Finding the location of the record with a given key </a:t>
            </a:r>
            <a:r>
              <a:rPr lang="en-GB" dirty="0"/>
              <a:t>value, or finding the locations of all records that satisfy one or more conditions.</a:t>
            </a:r>
          </a:p>
          <a:p>
            <a:r>
              <a:rPr lang="en-GB" b="1" dirty="0"/>
              <a:t>(3)Inserting: Adding a new record to the structure.</a:t>
            </a:r>
          </a:p>
          <a:p>
            <a:r>
              <a:rPr lang="en-GB" b="1" dirty="0"/>
              <a:t>(4)Deleting: Removing a record from the structure.</a:t>
            </a:r>
            <a:endParaRPr lang="en-GB" dirty="0"/>
          </a:p>
        </p:txBody>
      </p:sp>
      <p:sp>
        <p:nvSpPr>
          <p:cNvPr id="3" name="Date Placeholder 2"/>
          <p:cNvSpPr>
            <a:spLocks noGrp="1"/>
          </p:cNvSpPr>
          <p:nvPr>
            <p:ph type="dt" sz="half" idx="10"/>
          </p:nvPr>
        </p:nvSpPr>
        <p:spPr/>
        <p:txBody>
          <a:bodyPr/>
          <a:lstStyle/>
          <a:p>
            <a:fld id="{AF6A817D-CE79-4898-8199-4240D76A8299}" type="datetime1">
              <a:rPr lang="en-US" smtClean="0"/>
              <a:t>5/26/2026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17</a:t>
            </a:fld>
            <a:endParaRPr lang="en-GB"/>
          </a:p>
        </p:txBody>
      </p:sp>
    </p:spTree>
  </p:cSld>
  <p:clrMapOvr>
    <a:masterClrMapping/>
  </p:clrMapOvr>
  <p:transition spd="med">
    <p:zoom dir="in"/>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Note </a:t>
            </a:r>
          </a:p>
        </p:txBody>
      </p:sp>
      <p:sp>
        <p:nvSpPr>
          <p:cNvPr id="6" name="Content Placeholder 5"/>
          <p:cNvSpPr>
            <a:spLocks noGrp="1"/>
          </p:cNvSpPr>
          <p:nvPr>
            <p:ph idx="1"/>
          </p:nvPr>
        </p:nvSpPr>
        <p:spPr/>
        <p:txBody>
          <a:bodyPr/>
          <a:lstStyle/>
          <a:p>
            <a:r>
              <a:rPr lang="en-GB" dirty="0"/>
              <a:t>Sometimes two or more of the operations may be used in a given situation; e.g., we may want to delete the record with a given key, which may mean we first need to search for the location of the record.</a:t>
            </a:r>
          </a:p>
          <a:p>
            <a:r>
              <a:rPr lang="en-GB" dirty="0"/>
              <a:t> The following two operations, which are used in special situations, are also be considered:</a:t>
            </a:r>
          </a:p>
        </p:txBody>
      </p:sp>
      <p:sp>
        <p:nvSpPr>
          <p:cNvPr id="3" name="Date Placeholder 2"/>
          <p:cNvSpPr>
            <a:spLocks noGrp="1"/>
          </p:cNvSpPr>
          <p:nvPr>
            <p:ph type="dt" sz="half" idx="10"/>
          </p:nvPr>
        </p:nvSpPr>
        <p:spPr/>
        <p:txBody>
          <a:bodyPr/>
          <a:lstStyle/>
          <a:p>
            <a:fld id="{2FA98FC4-92DA-4E16-BD06-4A75136D5BEF}" type="datetime1">
              <a:rPr lang="en-US" smtClean="0"/>
              <a:t>5/26/2026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18</a:t>
            </a:fld>
            <a:endParaRPr lang="en-GB"/>
          </a:p>
        </p:txBody>
      </p:sp>
    </p:spTree>
  </p:cSld>
  <p:clrMapOvr>
    <a:masterClrMapping/>
  </p:clrMapOvr>
  <p:transition spd="med">
    <p:zoom dir="in"/>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Operations </a:t>
            </a:r>
          </a:p>
        </p:txBody>
      </p:sp>
      <p:sp>
        <p:nvSpPr>
          <p:cNvPr id="6" name="Content Placeholder 5"/>
          <p:cNvSpPr>
            <a:spLocks noGrp="1"/>
          </p:cNvSpPr>
          <p:nvPr>
            <p:ph idx="1"/>
          </p:nvPr>
        </p:nvSpPr>
        <p:spPr/>
        <p:txBody>
          <a:bodyPr>
            <a:normAutofit/>
          </a:bodyPr>
          <a:lstStyle/>
          <a:p>
            <a:r>
              <a:rPr lang="en-GB" b="1" dirty="0"/>
              <a:t>(1)Sorting: Arranging the records in some logical order (e.g., </a:t>
            </a:r>
            <a:r>
              <a:rPr lang="en-GB" dirty="0"/>
              <a:t>alphabetically according to some NAME key, or in numerical order according to some NUMBER key, such as social security number or account number)</a:t>
            </a:r>
          </a:p>
          <a:p>
            <a:r>
              <a:rPr lang="en-GB" b="1" dirty="0"/>
              <a:t>(2)Merging: Combining the records in two different sorted files </a:t>
            </a:r>
            <a:r>
              <a:rPr lang="en-GB" dirty="0"/>
              <a:t>into a single sorted file Other operations, e.g., </a:t>
            </a:r>
            <a:r>
              <a:rPr lang="en-GB" b="1" dirty="0"/>
              <a:t>copying and concatenation, are also used.</a:t>
            </a:r>
            <a:endParaRPr lang="en-GB" dirty="0"/>
          </a:p>
        </p:txBody>
      </p:sp>
      <p:sp>
        <p:nvSpPr>
          <p:cNvPr id="3" name="Date Placeholder 2"/>
          <p:cNvSpPr>
            <a:spLocks noGrp="1"/>
          </p:cNvSpPr>
          <p:nvPr>
            <p:ph type="dt" sz="half" idx="10"/>
          </p:nvPr>
        </p:nvSpPr>
        <p:spPr/>
        <p:txBody>
          <a:bodyPr/>
          <a:lstStyle/>
          <a:p>
            <a:fld id="{821A414C-4558-4A47-9999-16C8DB8157A9}" type="datetime1">
              <a:rPr lang="en-US" smtClean="0"/>
              <a:t>5/26/2026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19</a:t>
            </a:fld>
            <a:endParaRPr lang="en-GB"/>
          </a:p>
        </p:txBody>
      </p:sp>
    </p:spTree>
  </p:cSld>
  <p:clrMapOvr>
    <a:masterClrMapping/>
  </p:clrMapOvr>
  <p:transition spd="med">
    <p:zoom dir="in"/>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dirty="0"/>
              <a:t>What is an algorithm?</a:t>
            </a:r>
            <a:endParaRPr lang="en-GB" dirty="0"/>
          </a:p>
        </p:txBody>
      </p:sp>
      <p:sp>
        <p:nvSpPr>
          <p:cNvPr id="146435" name="Rectangle 3"/>
          <p:cNvSpPr>
            <a:spLocks noGrp="1" noChangeArrowheads="1"/>
          </p:cNvSpPr>
          <p:nvPr>
            <p:ph idx="1"/>
          </p:nvPr>
        </p:nvSpPr>
        <p:spPr>
          <a:xfrm>
            <a:off x="914400" y="2286000"/>
            <a:ext cx="7958455" cy="3854450"/>
          </a:xfrm>
        </p:spPr>
        <p:txBody>
          <a:bodyPr>
            <a:normAutofit fontScale="77500" lnSpcReduction="20000"/>
          </a:bodyPr>
          <a:lstStyle/>
          <a:p>
            <a:pPr>
              <a:lnSpc>
                <a:spcPct val="80000"/>
              </a:lnSpc>
            </a:pPr>
            <a:endParaRPr lang="en-US" sz="2500" dirty="0"/>
          </a:p>
          <a:p>
            <a:pPr>
              <a:lnSpc>
                <a:spcPct val="80000"/>
              </a:lnSpc>
            </a:pPr>
            <a:endParaRPr lang="en-US" sz="2500" dirty="0"/>
          </a:p>
          <a:p>
            <a:pPr>
              <a:lnSpc>
                <a:spcPct val="80000"/>
              </a:lnSpc>
            </a:pPr>
            <a:r>
              <a:rPr lang="en-US" sz="2500" dirty="0"/>
              <a:t>A set of instructions giving a step-by-step procedure which, given some inputs, produces some outputs.</a:t>
            </a:r>
          </a:p>
          <a:p>
            <a:pPr>
              <a:lnSpc>
                <a:spcPct val="80000"/>
              </a:lnSpc>
            </a:pPr>
            <a:r>
              <a:rPr lang="en-GB" sz="2500" dirty="0"/>
              <a:t>An algorithm is any well-defined computational procedure that takes some value, or a set of values as input and produces some value, or a set of values as output.</a:t>
            </a:r>
            <a:endParaRPr lang="en-US" sz="2500" dirty="0"/>
          </a:p>
          <a:p>
            <a:pPr>
              <a:lnSpc>
                <a:spcPct val="80000"/>
              </a:lnSpc>
            </a:pPr>
            <a:r>
              <a:rPr lang="en-US" sz="2500" dirty="0"/>
              <a:t>May be defined</a:t>
            </a:r>
          </a:p>
          <a:p>
            <a:pPr lvl="1">
              <a:lnSpc>
                <a:spcPct val="80000"/>
              </a:lnSpc>
            </a:pPr>
            <a:r>
              <a:rPr lang="en-US" sz="2100" dirty="0"/>
              <a:t>in English (e.g. enrolment guide)</a:t>
            </a:r>
          </a:p>
          <a:p>
            <a:pPr lvl="1">
              <a:lnSpc>
                <a:spcPct val="80000"/>
              </a:lnSpc>
            </a:pPr>
            <a:r>
              <a:rPr lang="en-US" sz="2100" dirty="0"/>
              <a:t>by diagrams (e.g. instructions for assembling kitset furniture)</a:t>
            </a:r>
          </a:p>
          <a:p>
            <a:pPr lvl="1">
              <a:lnSpc>
                <a:spcPct val="80000"/>
              </a:lnSpc>
            </a:pPr>
            <a:r>
              <a:rPr lang="en-US" sz="2100" dirty="0"/>
              <a:t>in a computer programming language</a:t>
            </a:r>
          </a:p>
          <a:p>
            <a:pPr lvl="1">
              <a:lnSpc>
                <a:spcPct val="80000"/>
              </a:lnSpc>
            </a:pPr>
            <a:r>
              <a:rPr lang="en-US" sz="2100" dirty="0"/>
              <a:t>with pseudo code</a:t>
            </a:r>
          </a:p>
          <a:p>
            <a:pPr lvl="1">
              <a:lnSpc>
                <a:spcPct val="80000"/>
              </a:lnSpc>
            </a:pPr>
            <a:r>
              <a:rPr lang="en-US" sz="2100" dirty="0"/>
              <a:t>in some other more-or-less formal language (e.g. knitting pattern).</a:t>
            </a:r>
          </a:p>
          <a:p>
            <a:pPr>
              <a:lnSpc>
                <a:spcPct val="80000"/>
              </a:lnSpc>
            </a:pPr>
            <a:r>
              <a:rPr lang="en-GB" sz="2500" dirty="0"/>
              <a:t>Data structure is a way of storing and organising data in order to facilitate access and modification</a:t>
            </a:r>
            <a:endParaRPr lang="en-US" sz="2500" dirty="0"/>
          </a:p>
        </p:txBody>
      </p:sp>
      <p:sp>
        <p:nvSpPr>
          <p:cNvPr id="4" name="Date Placeholder 3"/>
          <p:cNvSpPr>
            <a:spLocks noGrp="1"/>
          </p:cNvSpPr>
          <p:nvPr>
            <p:ph type="dt" sz="half" idx="10"/>
          </p:nvPr>
        </p:nvSpPr>
        <p:spPr/>
        <p:txBody>
          <a:bodyPr/>
          <a:lstStyle/>
          <a:p>
            <a:pPr>
              <a:defRPr/>
            </a:pPr>
            <a:fld id="{F0AE2569-9626-4405-89ED-8AFA24628075}" type="datetime1">
              <a:rPr lang="en-US" altLang="en-US" smtClean="0"/>
              <a:t>5/26/2026</a:t>
            </a:fld>
            <a:endParaRPr lang="en-US" altLang="en-US" dirty="0"/>
          </a:p>
        </p:txBody>
      </p:sp>
      <p:sp>
        <p:nvSpPr>
          <p:cNvPr id="5" name="Footer Placeholder 4"/>
          <p:cNvSpPr>
            <a:spLocks noGrp="1"/>
          </p:cNvSpPr>
          <p:nvPr>
            <p:ph type="ftr" sz="quarter" idx="11"/>
          </p:nvPr>
        </p:nvSpPr>
        <p:spPr/>
        <p:txBody>
          <a:bodyPr/>
          <a:lstStyle/>
          <a:p>
            <a:pPr>
              <a:defRPr/>
            </a:pPr>
            <a:r>
              <a:rPr lang="en-US" altLang="en-US" dirty="0"/>
              <a:t>Data structures and algorithms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6435">
                                            <p:txEl>
                                              <p:pRg st="2" end="2"/>
                                            </p:txEl>
                                          </p:spTgt>
                                        </p:tgtEl>
                                        <p:attrNameLst>
                                          <p:attrName>style.visibility</p:attrName>
                                        </p:attrNameLst>
                                      </p:cBhvr>
                                      <p:to>
                                        <p:strVal val="visible"/>
                                      </p:to>
                                    </p:set>
                                    <p:anim calcmode="lin" valueType="num">
                                      <p:cBhvr additive="base">
                                        <p:cTn id="7" dur="500" fill="hold"/>
                                        <p:tgtEl>
                                          <p:spTgt spid="146435">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64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6435">
                                            <p:txEl>
                                              <p:pRg st="3" end="3"/>
                                            </p:txEl>
                                          </p:spTgt>
                                        </p:tgtEl>
                                        <p:attrNameLst>
                                          <p:attrName>style.visibility</p:attrName>
                                        </p:attrNameLst>
                                      </p:cBhvr>
                                      <p:to>
                                        <p:strVal val="visible"/>
                                      </p:to>
                                    </p:set>
                                    <p:anim calcmode="lin" valueType="num">
                                      <p:cBhvr additive="base">
                                        <p:cTn id="13" dur="500" fill="hold"/>
                                        <p:tgtEl>
                                          <p:spTgt spid="146435">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6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6435">
                                            <p:txEl>
                                              <p:pRg st="4" end="4"/>
                                            </p:txEl>
                                          </p:spTgt>
                                        </p:tgtEl>
                                        <p:attrNameLst>
                                          <p:attrName>style.visibility</p:attrName>
                                        </p:attrNameLst>
                                      </p:cBhvr>
                                      <p:to>
                                        <p:strVal val="visible"/>
                                      </p:to>
                                    </p:set>
                                    <p:anim calcmode="lin" valueType="num">
                                      <p:cBhvr additive="base">
                                        <p:cTn id="19" dur="500" fill="hold"/>
                                        <p:tgtEl>
                                          <p:spTgt spid="146435">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6435">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46435">
                                            <p:txEl>
                                              <p:pRg st="5" end="5"/>
                                            </p:txEl>
                                          </p:spTgt>
                                        </p:tgtEl>
                                        <p:attrNameLst>
                                          <p:attrName>style.visibility</p:attrName>
                                        </p:attrNameLst>
                                      </p:cBhvr>
                                      <p:to>
                                        <p:strVal val="visible"/>
                                      </p:to>
                                    </p:set>
                                    <p:anim calcmode="lin" valueType="num">
                                      <p:cBhvr additive="base">
                                        <p:cTn id="23" dur="500" fill="hold"/>
                                        <p:tgtEl>
                                          <p:spTgt spid="146435">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46435">
                                            <p:txEl>
                                              <p:pRg st="5" end="5"/>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46435">
                                            <p:txEl>
                                              <p:pRg st="6" end="6"/>
                                            </p:txEl>
                                          </p:spTgt>
                                        </p:tgtEl>
                                        <p:attrNameLst>
                                          <p:attrName>style.visibility</p:attrName>
                                        </p:attrNameLst>
                                      </p:cBhvr>
                                      <p:to>
                                        <p:strVal val="visible"/>
                                      </p:to>
                                    </p:set>
                                    <p:anim calcmode="lin" valueType="num">
                                      <p:cBhvr additive="base">
                                        <p:cTn id="27" dur="500" fill="hold"/>
                                        <p:tgtEl>
                                          <p:spTgt spid="146435">
                                            <p:txEl>
                                              <p:pRg st="6" end="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46435">
                                            <p:txEl>
                                              <p:pRg st="6" end="6"/>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46435">
                                            <p:txEl>
                                              <p:pRg st="7" end="7"/>
                                            </p:txEl>
                                          </p:spTgt>
                                        </p:tgtEl>
                                        <p:attrNameLst>
                                          <p:attrName>style.visibility</p:attrName>
                                        </p:attrNameLst>
                                      </p:cBhvr>
                                      <p:to>
                                        <p:strVal val="visible"/>
                                      </p:to>
                                    </p:set>
                                    <p:anim calcmode="lin" valueType="num">
                                      <p:cBhvr additive="base">
                                        <p:cTn id="31" dur="500" fill="hold"/>
                                        <p:tgtEl>
                                          <p:spTgt spid="146435">
                                            <p:txEl>
                                              <p:pRg st="7" end="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6435">
                                            <p:txEl>
                                              <p:pRg st="7" end="7"/>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6435">
                                            <p:txEl>
                                              <p:pRg st="8" end="8"/>
                                            </p:txEl>
                                          </p:spTgt>
                                        </p:tgtEl>
                                        <p:attrNameLst>
                                          <p:attrName>style.visibility</p:attrName>
                                        </p:attrNameLst>
                                      </p:cBhvr>
                                      <p:to>
                                        <p:strVal val="visible"/>
                                      </p:to>
                                    </p:set>
                                    <p:anim calcmode="lin" valueType="num">
                                      <p:cBhvr additive="base">
                                        <p:cTn id="35" dur="500" fill="hold"/>
                                        <p:tgtEl>
                                          <p:spTgt spid="146435">
                                            <p:txEl>
                                              <p:pRg st="8" end="8"/>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46435">
                                            <p:txEl>
                                              <p:pRg st="8" end="8"/>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46435">
                                            <p:txEl>
                                              <p:pRg st="9" end="9"/>
                                            </p:txEl>
                                          </p:spTgt>
                                        </p:tgtEl>
                                        <p:attrNameLst>
                                          <p:attrName>style.visibility</p:attrName>
                                        </p:attrNameLst>
                                      </p:cBhvr>
                                      <p:to>
                                        <p:strVal val="visible"/>
                                      </p:to>
                                    </p:set>
                                    <p:anim calcmode="lin" valueType="num">
                                      <p:cBhvr additive="base">
                                        <p:cTn id="39" dur="500" fill="hold"/>
                                        <p:tgtEl>
                                          <p:spTgt spid="146435">
                                            <p:txEl>
                                              <p:pRg st="9" end="9"/>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4643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46435">
                                            <p:txEl>
                                              <p:pRg st="10" end="10"/>
                                            </p:txEl>
                                          </p:spTgt>
                                        </p:tgtEl>
                                        <p:attrNameLst>
                                          <p:attrName>style.visibility</p:attrName>
                                        </p:attrNameLst>
                                      </p:cBhvr>
                                      <p:to>
                                        <p:strVal val="visible"/>
                                      </p:to>
                                    </p:set>
                                    <p:anim calcmode="lin" valueType="num">
                                      <p:cBhvr additive="base">
                                        <p:cTn id="45" dur="500" fill="hold"/>
                                        <p:tgtEl>
                                          <p:spTgt spid="146435">
                                            <p:txEl>
                                              <p:pRg st="10" end="1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146435">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normAutofit fontScale="90000"/>
          </a:bodyPr>
          <a:lstStyle/>
          <a:p>
            <a:pPr algn="ctr" fontAlgn="auto">
              <a:spcAft>
                <a:spcPts val="0"/>
              </a:spcAft>
              <a:defRPr/>
            </a:pPr>
            <a:r>
              <a:rPr lang="en-GB" sz="3800" b="1" dirty="0"/>
              <a:t>Running time</a:t>
            </a:r>
            <a:br>
              <a:rPr lang="en-GB" sz="3800" dirty="0"/>
            </a:br>
            <a:endParaRPr lang="en-GB" sz="3800" dirty="0"/>
          </a:p>
        </p:txBody>
      </p:sp>
      <p:sp>
        <p:nvSpPr>
          <p:cNvPr id="256003" name="Rectangle 3"/>
          <p:cNvSpPr>
            <a:spLocks noGrp="1" noChangeArrowheads="1"/>
          </p:cNvSpPr>
          <p:nvPr>
            <p:ph type="body" sz="half" idx="1"/>
          </p:nvPr>
        </p:nvSpPr>
        <p:spPr>
          <a:xfrm>
            <a:off x="685800" y="2286000"/>
            <a:ext cx="7585075" cy="3790950"/>
          </a:xfrm>
        </p:spPr>
        <p:txBody>
          <a:bodyPr>
            <a:normAutofit/>
          </a:bodyPr>
          <a:lstStyle/>
          <a:p>
            <a:pPr marL="457200" indent="-457200" fontAlgn="auto">
              <a:spcAft>
                <a:spcPts val="0"/>
              </a:spcAft>
              <a:buFont typeface="Wingdings" panose="05000000000000000000"/>
              <a:buChar char=""/>
              <a:defRPr/>
            </a:pPr>
            <a:r>
              <a:rPr lang="en-GB" dirty="0"/>
              <a:t>The running time depends on the input: an already sorted sequence is easier to sort.</a:t>
            </a:r>
          </a:p>
          <a:p>
            <a:pPr marL="457200" indent="-457200" fontAlgn="auto">
              <a:spcAft>
                <a:spcPts val="0"/>
              </a:spcAft>
              <a:buFont typeface="Wingdings" panose="05000000000000000000"/>
              <a:buChar char=""/>
              <a:defRPr/>
            </a:pPr>
            <a:r>
              <a:rPr lang="en-GB" dirty="0"/>
              <a:t>Parameterize the running time by the size of the input, since short sequences are easier to sort than long ones.</a:t>
            </a:r>
          </a:p>
          <a:p>
            <a:pPr marL="457200" indent="-457200" fontAlgn="auto">
              <a:spcAft>
                <a:spcPts val="0"/>
              </a:spcAft>
              <a:buFont typeface="Wingdings" panose="05000000000000000000"/>
              <a:buChar char=""/>
              <a:defRPr/>
            </a:pPr>
            <a:r>
              <a:rPr lang="en-GB" dirty="0"/>
              <a:t>Generally, we seek upper bounds on the running time, because everybody we need guarantee.</a:t>
            </a:r>
          </a:p>
        </p:txBody>
      </p:sp>
      <p:sp>
        <p:nvSpPr>
          <p:cNvPr id="5" name="Date Placeholder 4"/>
          <p:cNvSpPr>
            <a:spLocks noGrp="1"/>
          </p:cNvSpPr>
          <p:nvPr>
            <p:ph type="dt" sz="half" idx="10"/>
          </p:nvPr>
        </p:nvSpPr>
        <p:spPr/>
        <p:txBody>
          <a:bodyPr/>
          <a:lstStyle/>
          <a:p>
            <a:pPr>
              <a:defRPr/>
            </a:pPr>
            <a:fld id="{0745955B-68AE-4DF0-BEF6-F88D774984CA}" type="datetime1">
              <a:rPr lang="en-US" altLang="en-US" smtClean="0"/>
              <a:t>5/26/2026</a:t>
            </a:fld>
            <a:endParaRPr lang="en-US" altLang="en-US" dirty="0"/>
          </a:p>
        </p:txBody>
      </p:sp>
      <p:sp>
        <p:nvSpPr>
          <p:cNvPr id="6" name="Footer Placeholder 5"/>
          <p:cNvSpPr>
            <a:spLocks noGrp="1"/>
          </p:cNvSpPr>
          <p:nvPr>
            <p:ph type="ftr" sz="quarter" idx="11"/>
          </p:nvPr>
        </p:nvSpPr>
        <p:spPr/>
        <p:txBody>
          <a:bodyPr/>
          <a:lstStyle/>
          <a:p>
            <a:pPr>
              <a:defRPr/>
            </a:pPr>
            <a:r>
              <a:rPr lang="en-US" altLang="en-US" dirty="0"/>
              <a:t>Data structures and algorithms</a:t>
            </a:r>
          </a:p>
        </p:txBody>
      </p:sp>
      <p:sp>
        <p:nvSpPr>
          <p:cNvPr id="256004" name="Rectangle 4"/>
          <p:cNvSpPr>
            <a:spLocks noChangeArrowheads="1"/>
          </p:cNvSpPr>
          <p:nvPr/>
        </p:nvSpPr>
        <p:spPr bwMode="auto">
          <a:xfrm>
            <a:off x="8828088" y="6396038"/>
            <a:ext cx="309562" cy="457200"/>
          </a:xfrm>
          <a:prstGeom prst="rect">
            <a:avLst/>
          </a:prstGeom>
          <a:noFill/>
          <a:ln w="9525">
            <a:noFill/>
            <a:miter lim="800000"/>
          </a:ln>
        </p:spPr>
        <p:txBody>
          <a:bodyPr wrap="none">
            <a:spAutoFit/>
          </a:bodyPr>
          <a:lstStyle/>
          <a:p>
            <a:pPr algn="l" eaLnBrk="0" hangingPunct="0"/>
            <a:r>
              <a:rPr lang="en-GB" sz="2400" dirty="0">
                <a:latin typeface="Times" pitchFamily="18" charset="0"/>
              </a:rPr>
              <a: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Effect transition="in" filter="wipe(up)">
                                      <p:cBhvr>
                                        <p:cTn id="7" dur="500"/>
                                        <p:tgtEl>
                                          <p:spTgt spid="256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6003">
                                            <p:txEl>
                                              <p:pRg st="1" end="1"/>
                                            </p:txEl>
                                          </p:spTgt>
                                        </p:tgtEl>
                                        <p:attrNameLst>
                                          <p:attrName>style.visibility</p:attrName>
                                        </p:attrNameLst>
                                      </p:cBhvr>
                                      <p:to>
                                        <p:strVal val="visible"/>
                                      </p:to>
                                    </p:set>
                                    <p:animEffect transition="in" filter="wipe(up)">
                                      <p:cBhvr>
                                        <p:cTn id="12" dur="500"/>
                                        <p:tgtEl>
                                          <p:spTgt spid="256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6003">
                                            <p:txEl>
                                              <p:pRg st="2" end="2"/>
                                            </p:txEl>
                                          </p:spTgt>
                                        </p:tgtEl>
                                        <p:attrNameLst>
                                          <p:attrName>style.visibility</p:attrName>
                                        </p:attrNameLst>
                                      </p:cBhvr>
                                      <p:to>
                                        <p:strVal val="visible"/>
                                      </p:to>
                                    </p:set>
                                    <p:animEffect transition="in" filter="wipe(up)">
                                      <p:cBhvr>
                                        <p:cTn id="17" dur="500"/>
                                        <p:tgtEl>
                                          <p:spTgt spid="256003">
                                            <p:txEl>
                                              <p:pRg st="2" end="2"/>
                                            </p:txEl>
                                          </p:spTgt>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256004"/>
                                        </p:tgtEl>
                                        <p:attrNameLst>
                                          <p:attrName>style.visibility</p:attrName>
                                        </p:attrNameLst>
                                      </p:cBhvr>
                                      <p:to>
                                        <p:strVal val="visible"/>
                                      </p:to>
                                    </p:set>
                                  </p:childTnLst>
                                  <p:subTnLst>
                                    <p:audio>
                                      <p:cMediaNode>
                                        <p:cTn display="0" masterRel="sameClick">
                                          <p:stCondLst>
                                            <p:cond evt="begin" delay="0">
                                              <p:tn val="19"/>
                                            </p:cond>
                                          </p:stCondLst>
                                          <p:endCondLst>
                                            <p:cond evt="onStopAudio" delay="0">
                                              <p:tgtEl>
                                                <p:sldTgt/>
                                              </p:tgtEl>
                                            </p:cond>
                                          </p:endCondLst>
                                        </p:cTn>
                                        <p:tgtEl>
                                          <p:sndTgt r:embed="rId2" name="Chimes"/>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autoUpdateAnimBg="0"/>
      <p:bldP spid="256004"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normAutofit fontScale="90000"/>
          </a:bodyPr>
          <a:lstStyle/>
          <a:p>
            <a:pPr algn="ctr" fontAlgn="auto">
              <a:spcAft>
                <a:spcPts val="0"/>
              </a:spcAft>
              <a:defRPr/>
            </a:pPr>
            <a:r>
              <a:rPr lang="en-GB" sz="3800" b="1" dirty="0"/>
              <a:t>Kinds of analyses</a:t>
            </a:r>
            <a:br>
              <a:rPr lang="en-GB" sz="3800" b="1" dirty="0"/>
            </a:br>
            <a:endParaRPr lang="en-GB" sz="3800" b="1" dirty="0"/>
          </a:p>
        </p:txBody>
      </p:sp>
      <p:sp>
        <p:nvSpPr>
          <p:cNvPr id="257027" name="Rectangle 3"/>
          <p:cNvSpPr>
            <a:spLocks noGrp="1" noChangeArrowheads="1"/>
          </p:cNvSpPr>
          <p:nvPr>
            <p:ph type="body" sz="half" idx="1"/>
          </p:nvPr>
        </p:nvSpPr>
        <p:spPr>
          <a:xfrm>
            <a:off x="838200" y="2362200"/>
            <a:ext cx="7585075" cy="3790950"/>
          </a:xfrm>
        </p:spPr>
        <p:txBody>
          <a:bodyPr>
            <a:normAutofit fontScale="92500" lnSpcReduction="20000"/>
          </a:bodyPr>
          <a:lstStyle/>
          <a:p>
            <a:pPr marL="457200" indent="-457200" fontAlgn="auto">
              <a:spcAft>
                <a:spcPts val="0"/>
              </a:spcAft>
              <a:buFont typeface="Wingdings" panose="05000000000000000000"/>
              <a:buChar char=""/>
              <a:defRPr/>
            </a:pPr>
            <a:r>
              <a:rPr lang="en-GB" b="1" dirty="0"/>
              <a:t>Worst-case: </a:t>
            </a:r>
            <a:r>
              <a:rPr lang="en-GB" dirty="0"/>
              <a:t>(usually)</a:t>
            </a:r>
          </a:p>
          <a:p>
            <a:pPr marL="876300" lvl="1" indent="-419100" fontAlgn="auto">
              <a:spcAft>
                <a:spcPts val="0"/>
              </a:spcAft>
              <a:buFont typeface="Wingdings 2" panose="05020102010507070707"/>
              <a:buChar char=""/>
              <a:defRPr/>
            </a:pPr>
            <a:r>
              <a:rPr lang="en-GB" i="1" dirty="0"/>
              <a:t>T</a:t>
            </a:r>
            <a:r>
              <a:rPr lang="en-GB" dirty="0"/>
              <a:t>(</a:t>
            </a:r>
            <a:r>
              <a:rPr lang="en-GB" i="1" dirty="0"/>
              <a:t>n</a:t>
            </a:r>
            <a:r>
              <a:rPr lang="en-GB" dirty="0"/>
              <a:t>) = maximum time of algorithm on any input of size </a:t>
            </a:r>
            <a:r>
              <a:rPr lang="en-GB" i="1" dirty="0"/>
              <a:t>n</a:t>
            </a:r>
            <a:r>
              <a:rPr lang="en-GB" dirty="0"/>
              <a:t>.</a:t>
            </a:r>
          </a:p>
          <a:p>
            <a:pPr marL="876300" lvl="1" indent="-419100" fontAlgn="auto">
              <a:spcAft>
                <a:spcPts val="0"/>
              </a:spcAft>
              <a:buFont typeface="Wingdings 2" panose="05020102010507070707"/>
              <a:buChar char=""/>
              <a:defRPr/>
            </a:pPr>
            <a:r>
              <a:rPr lang="en-GB" dirty="0"/>
              <a:t>Known as the big O notation</a:t>
            </a:r>
          </a:p>
          <a:p>
            <a:pPr marL="457200" indent="-457200" fontAlgn="auto">
              <a:spcAft>
                <a:spcPts val="0"/>
              </a:spcAft>
              <a:buFont typeface="Wingdings" panose="05000000000000000000"/>
              <a:buChar char=""/>
              <a:defRPr/>
            </a:pPr>
            <a:r>
              <a:rPr lang="en-GB" b="1" dirty="0"/>
              <a:t>Average-case: </a:t>
            </a:r>
            <a:r>
              <a:rPr lang="en-GB" dirty="0"/>
              <a:t>(sometimes)</a:t>
            </a:r>
          </a:p>
          <a:p>
            <a:pPr marL="876300" lvl="1" indent="-419100" fontAlgn="auto">
              <a:spcAft>
                <a:spcPts val="0"/>
              </a:spcAft>
              <a:buFont typeface="Wingdings 2" panose="05020102010507070707"/>
              <a:buChar char=""/>
              <a:defRPr/>
            </a:pPr>
            <a:r>
              <a:rPr lang="en-GB" i="1" dirty="0"/>
              <a:t>T</a:t>
            </a:r>
            <a:r>
              <a:rPr lang="en-GB" dirty="0"/>
              <a:t>(</a:t>
            </a:r>
            <a:r>
              <a:rPr lang="en-GB" i="1" dirty="0"/>
              <a:t>n</a:t>
            </a:r>
            <a:r>
              <a:rPr lang="en-GB" dirty="0"/>
              <a:t>) = expected time of algorithm over all inputs of size </a:t>
            </a:r>
            <a:r>
              <a:rPr lang="en-GB" i="1" dirty="0"/>
              <a:t>n</a:t>
            </a:r>
            <a:r>
              <a:rPr lang="en-GB" dirty="0"/>
              <a:t>.</a:t>
            </a:r>
          </a:p>
          <a:p>
            <a:pPr marL="876300" lvl="1" indent="-419100" fontAlgn="auto">
              <a:spcAft>
                <a:spcPts val="0"/>
              </a:spcAft>
              <a:buFont typeface="Wingdings 2" panose="05020102010507070707"/>
              <a:buChar char=""/>
              <a:defRPr/>
            </a:pPr>
            <a:r>
              <a:rPr lang="en-GB" dirty="0"/>
              <a:t>Need assumption of statistical distribution of inputs.</a:t>
            </a:r>
          </a:p>
          <a:p>
            <a:pPr marL="876300" lvl="1" indent="-419100" fontAlgn="auto">
              <a:spcAft>
                <a:spcPts val="0"/>
              </a:spcAft>
              <a:buFont typeface="Wingdings 2" panose="05020102010507070707"/>
              <a:buChar char=""/>
              <a:defRPr/>
            </a:pPr>
            <a:r>
              <a:rPr lang="en-GB" dirty="0"/>
              <a:t>Known as the theta notation</a:t>
            </a:r>
          </a:p>
          <a:p>
            <a:pPr marL="457200" indent="-457200" fontAlgn="auto">
              <a:spcAft>
                <a:spcPts val="0"/>
              </a:spcAft>
              <a:buFont typeface="Wingdings" panose="05000000000000000000"/>
              <a:buChar char=""/>
              <a:defRPr/>
            </a:pPr>
            <a:r>
              <a:rPr lang="en-GB" b="1" dirty="0"/>
              <a:t>Best-case: </a:t>
            </a:r>
            <a:r>
              <a:rPr lang="en-GB" dirty="0"/>
              <a:t>(rarely)</a:t>
            </a:r>
          </a:p>
          <a:p>
            <a:pPr marL="876300" lvl="1" indent="-419100" fontAlgn="auto">
              <a:spcAft>
                <a:spcPts val="0"/>
              </a:spcAft>
              <a:buFont typeface="Wingdings 2" panose="05020102010507070707"/>
              <a:buChar char=""/>
              <a:defRPr/>
            </a:pPr>
            <a:r>
              <a:rPr lang="en-GB" dirty="0"/>
              <a:t>Cheat with a slow algorithm that works fast on </a:t>
            </a:r>
            <a:r>
              <a:rPr lang="en-GB" i="1" dirty="0"/>
              <a:t>some </a:t>
            </a:r>
            <a:r>
              <a:rPr lang="en-GB" dirty="0"/>
              <a:t>input.</a:t>
            </a:r>
          </a:p>
          <a:p>
            <a:pPr marL="876300" lvl="1" indent="-419100" fontAlgn="auto">
              <a:spcAft>
                <a:spcPts val="0"/>
              </a:spcAft>
              <a:buFont typeface="Wingdings 2" panose="05020102010507070707"/>
              <a:buChar char=""/>
              <a:defRPr/>
            </a:pPr>
            <a:r>
              <a:rPr lang="en-GB" dirty="0"/>
              <a:t>Known as omega notation </a:t>
            </a:r>
          </a:p>
        </p:txBody>
      </p:sp>
      <p:sp>
        <p:nvSpPr>
          <p:cNvPr id="5" name="Date Placeholder 4"/>
          <p:cNvSpPr>
            <a:spLocks noGrp="1"/>
          </p:cNvSpPr>
          <p:nvPr>
            <p:ph type="dt" sz="half" idx="10"/>
          </p:nvPr>
        </p:nvSpPr>
        <p:spPr/>
        <p:txBody>
          <a:bodyPr/>
          <a:lstStyle/>
          <a:p>
            <a:pPr>
              <a:defRPr/>
            </a:pPr>
            <a:fld id="{D36B2D49-FDBE-4C31-BBFA-B300EA2A7852}" type="datetime1">
              <a:rPr lang="en-US" altLang="en-US" smtClean="0"/>
              <a:t>5/26/2026</a:t>
            </a:fld>
            <a:endParaRPr lang="en-US" altLang="en-US" dirty="0"/>
          </a:p>
        </p:txBody>
      </p:sp>
      <p:sp>
        <p:nvSpPr>
          <p:cNvPr id="6" name="Footer Placeholder 5"/>
          <p:cNvSpPr>
            <a:spLocks noGrp="1"/>
          </p:cNvSpPr>
          <p:nvPr>
            <p:ph type="ftr" sz="quarter" idx="11"/>
          </p:nvPr>
        </p:nvSpPr>
        <p:spPr/>
        <p:txBody>
          <a:bodyPr/>
          <a:lstStyle/>
          <a:p>
            <a:pPr>
              <a:defRPr/>
            </a:pPr>
            <a:r>
              <a:rPr lang="en-US" altLang="en-US" dirty="0"/>
              <a:t>Data structures and algorithms</a:t>
            </a:r>
          </a:p>
        </p:txBody>
      </p:sp>
      <p:sp>
        <p:nvSpPr>
          <p:cNvPr id="257028" name="Rectangle 4"/>
          <p:cNvSpPr>
            <a:spLocks noChangeArrowheads="1"/>
          </p:cNvSpPr>
          <p:nvPr/>
        </p:nvSpPr>
        <p:spPr bwMode="auto">
          <a:xfrm>
            <a:off x="8828088" y="6396038"/>
            <a:ext cx="309562" cy="457200"/>
          </a:xfrm>
          <a:prstGeom prst="rect">
            <a:avLst/>
          </a:prstGeom>
          <a:noFill/>
          <a:ln w="9525">
            <a:noFill/>
            <a:miter lim="800000"/>
          </a:ln>
        </p:spPr>
        <p:txBody>
          <a:bodyPr wrap="none">
            <a:spAutoFit/>
          </a:bodyPr>
          <a:lstStyle/>
          <a:p>
            <a:pPr algn="l" eaLnBrk="0" hangingPunct="0"/>
            <a:r>
              <a:rPr lang="en-GB" sz="2400" dirty="0">
                <a:latin typeface="Times" pitchFamily="18" charset="0"/>
              </a:rPr>
              <a:t>*</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7027">
                                            <p:txEl>
                                              <p:pRg st="0" end="0"/>
                                            </p:txEl>
                                          </p:spTgt>
                                        </p:tgtEl>
                                        <p:attrNameLst>
                                          <p:attrName>style.visibility</p:attrName>
                                        </p:attrNameLst>
                                      </p:cBhvr>
                                      <p:to>
                                        <p:strVal val="visible"/>
                                      </p:to>
                                    </p:set>
                                    <p:animEffect transition="in" filter="wipe(up)">
                                      <p:cBhvr>
                                        <p:cTn id="7" dur="500"/>
                                        <p:tgtEl>
                                          <p:spTgt spid="25702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57027">
                                            <p:txEl>
                                              <p:pRg st="1" end="1"/>
                                            </p:txEl>
                                          </p:spTgt>
                                        </p:tgtEl>
                                        <p:attrNameLst>
                                          <p:attrName>style.visibility</p:attrName>
                                        </p:attrNameLst>
                                      </p:cBhvr>
                                      <p:to>
                                        <p:strVal val="visible"/>
                                      </p:to>
                                    </p:set>
                                    <p:animEffect transition="in" filter="wipe(up)">
                                      <p:cBhvr>
                                        <p:cTn id="10" dur="500"/>
                                        <p:tgtEl>
                                          <p:spTgt spid="257027">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57027">
                                            <p:txEl>
                                              <p:pRg st="2" end="2"/>
                                            </p:txEl>
                                          </p:spTgt>
                                        </p:tgtEl>
                                        <p:attrNameLst>
                                          <p:attrName>style.visibility</p:attrName>
                                        </p:attrNameLst>
                                      </p:cBhvr>
                                      <p:to>
                                        <p:strVal val="visible"/>
                                      </p:to>
                                    </p:set>
                                    <p:animEffect transition="in" filter="wipe(up)">
                                      <p:cBhvr>
                                        <p:cTn id="13" dur="500"/>
                                        <p:tgtEl>
                                          <p:spTgt spid="25702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57027">
                                            <p:txEl>
                                              <p:pRg st="3" end="3"/>
                                            </p:txEl>
                                          </p:spTgt>
                                        </p:tgtEl>
                                        <p:attrNameLst>
                                          <p:attrName>style.visibility</p:attrName>
                                        </p:attrNameLst>
                                      </p:cBhvr>
                                      <p:to>
                                        <p:strVal val="visible"/>
                                      </p:to>
                                    </p:set>
                                    <p:animEffect transition="in" filter="wipe(up)">
                                      <p:cBhvr>
                                        <p:cTn id="18" dur="500"/>
                                        <p:tgtEl>
                                          <p:spTgt spid="257027">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57027">
                                            <p:txEl>
                                              <p:pRg st="4" end="4"/>
                                            </p:txEl>
                                          </p:spTgt>
                                        </p:tgtEl>
                                        <p:attrNameLst>
                                          <p:attrName>style.visibility</p:attrName>
                                        </p:attrNameLst>
                                      </p:cBhvr>
                                      <p:to>
                                        <p:strVal val="visible"/>
                                      </p:to>
                                    </p:set>
                                    <p:animEffect transition="in" filter="wipe(up)">
                                      <p:cBhvr>
                                        <p:cTn id="21" dur="500"/>
                                        <p:tgtEl>
                                          <p:spTgt spid="257027">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257027">
                                            <p:txEl>
                                              <p:pRg st="5" end="5"/>
                                            </p:txEl>
                                          </p:spTgt>
                                        </p:tgtEl>
                                        <p:attrNameLst>
                                          <p:attrName>style.visibility</p:attrName>
                                        </p:attrNameLst>
                                      </p:cBhvr>
                                      <p:to>
                                        <p:strVal val="visible"/>
                                      </p:to>
                                    </p:set>
                                    <p:animEffect transition="in" filter="wipe(up)">
                                      <p:cBhvr>
                                        <p:cTn id="24" dur="500"/>
                                        <p:tgtEl>
                                          <p:spTgt spid="257027">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57027">
                                            <p:txEl>
                                              <p:pRg st="6" end="6"/>
                                            </p:txEl>
                                          </p:spTgt>
                                        </p:tgtEl>
                                        <p:attrNameLst>
                                          <p:attrName>style.visibility</p:attrName>
                                        </p:attrNameLst>
                                      </p:cBhvr>
                                      <p:to>
                                        <p:strVal val="visible"/>
                                      </p:to>
                                    </p:set>
                                    <p:animEffect transition="in" filter="wipe(up)">
                                      <p:cBhvr>
                                        <p:cTn id="27" dur="500"/>
                                        <p:tgtEl>
                                          <p:spTgt spid="25702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57027">
                                            <p:txEl>
                                              <p:pRg st="7" end="7"/>
                                            </p:txEl>
                                          </p:spTgt>
                                        </p:tgtEl>
                                        <p:attrNameLst>
                                          <p:attrName>style.visibility</p:attrName>
                                        </p:attrNameLst>
                                      </p:cBhvr>
                                      <p:to>
                                        <p:strVal val="visible"/>
                                      </p:to>
                                    </p:set>
                                    <p:animEffect transition="in" filter="wipe(up)">
                                      <p:cBhvr>
                                        <p:cTn id="32" dur="500"/>
                                        <p:tgtEl>
                                          <p:spTgt spid="257027">
                                            <p:txEl>
                                              <p:pRg st="7" end="7"/>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57027">
                                            <p:txEl>
                                              <p:pRg st="8" end="8"/>
                                            </p:txEl>
                                          </p:spTgt>
                                        </p:tgtEl>
                                        <p:attrNameLst>
                                          <p:attrName>style.visibility</p:attrName>
                                        </p:attrNameLst>
                                      </p:cBhvr>
                                      <p:to>
                                        <p:strVal val="visible"/>
                                      </p:to>
                                    </p:set>
                                    <p:animEffect transition="in" filter="wipe(up)">
                                      <p:cBhvr>
                                        <p:cTn id="35" dur="500"/>
                                        <p:tgtEl>
                                          <p:spTgt spid="257027">
                                            <p:txEl>
                                              <p:pRg st="8" end="8"/>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257027">
                                            <p:txEl>
                                              <p:pRg st="9" end="9"/>
                                            </p:txEl>
                                          </p:spTgt>
                                        </p:tgtEl>
                                        <p:attrNameLst>
                                          <p:attrName>style.visibility</p:attrName>
                                        </p:attrNameLst>
                                      </p:cBhvr>
                                      <p:to>
                                        <p:strVal val="visible"/>
                                      </p:to>
                                    </p:set>
                                    <p:animEffect transition="in" filter="wipe(up)">
                                      <p:cBhvr>
                                        <p:cTn id="38" dur="500"/>
                                        <p:tgtEl>
                                          <p:spTgt spid="257027">
                                            <p:txEl>
                                              <p:pRg st="9" end="9"/>
                                            </p:txEl>
                                          </p:spTgt>
                                        </p:tgtEl>
                                      </p:cBhvr>
                                    </p:animEffec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257028"/>
                                        </p:tgtEl>
                                        <p:attrNameLst>
                                          <p:attrName>style.visibility</p:attrName>
                                        </p:attrNameLst>
                                      </p:cBhvr>
                                      <p:to>
                                        <p:strVal val="visible"/>
                                      </p:to>
                                    </p:set>
                                  </p:childTnLst>
                                  <p:subTnLst>
                                    <p:audio>
                                      <p:cMediaNode>
                                        <p:cTn display="0" masterRel="sameClick">
                                          <p:stCondLst>
                                            <p:cond evt="begin" delay="0">
                                              <p:tn val="40"/>
                                            </p:cond>
                                          </p:stCondLst>
                                          <p:endCondLst>
                                            <p:cond evt="onStopAudio" delay="0">
                                              <p:tgtEl>
                                                <p:sldTgt/>
                                              </p:tgtEl>
                                            </p:cond>
                                          </p:endCondLst>
                                        </p:cTn>
                                        <p:tgtEl>
                                          <p:sndTgt r:embed="rId2" name="Chimes"/>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build="p" autoUpdateAnimBg="0"/>
      <p:bldP spid="25702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Algorithms  </a:t>
            </a:r>
          </a:p>
        </p:txBody>
      </p:sp>
      <p:sp>
        <p:nvSpPr>
          <p:cNvPr id="6" name="Content Placeholder 5"/>
          <p:cNvSpPr>
            <a:spLocks noGrp="1"/>
          </p:cNvSpPr>
          <p:nvPr>
            <p:ph idx="1"/>
          </p:nvPr>
        </p:nvSpPr>
        <p:spPr/>
        <p:txBody>
          <a:bodyPr>
            <a:normAutofit/>
          </a:bodyPr>
          <a:lstStyle/>
          <a:p>
            <a:r>
              <a:rPr lang="en-GB" dirty="0"/>
              <a:t>The </a:t>
            </a:r>
            <a:r>
              <a:rPr lang="en-GB" b="1" dirty="0"/>
              <a:t>complexity of an algorithm M is the function f(n) which </a:t>
            </a:r>
            <a:r>
              <a:rPr lang="en-GB" dirty="0"/>
              <a:t>gives the running time and/or storage space requirement of the algorithm in term, of the size n of the input data. </a:t>
            </a:r>
          </a:p>
          <a:p>
            <a:r>
              <a:rPr lang="en-GB" dirty="0"/>
              <a:t>Frequently, the storage space required by an algorithm is simply a multiple of the data size n. </a:t>
            </a:r>
          </a:p>
          <a:p>
            <a:r>
              <a:rPr lang="en-GB" dirty="0"/>
              <a:t>Unless otherwise stated or implied, the term “complexity” shall refer to the running time of the algorithm.</a:t>
            </a:r>
          </a:p>
        </p:txBody>
      </p:sp>
      <p:sp>
        <p:nvSpPr>
          <p:cNvPr id="3" name="Date Placeholder 2"/>
          <p:cNvSpPr>
            <a:spLocks noGrp="1"/>
          </p:cNvSpPr>
          <p:nvPr>
            <p:ph type="dt" sz="half" idx="10"/>
          </p:nvPr>
        </p:nvSpPr>
        <p:spPr/>
        <p:txBody>
          <a:bodyPr/>
          <a:lstStyle/>
          <a:p>
            <a:fld id="{B31C646D-F7D8-4659-B568-67EA15F6293F}" type="datetime1">
              <a:rPr lang="en-US" smtClean="0"/>
              <a:t>5/26/2026</a:t>
            </a:fld>
            <a:endParaRPr lang="en-GB"/>
          </a:p>
        </p:txBody>
      </p:sp>
      <p:sp>
        <p:nvSpPr>
          <p:cNvPr id="4" name="Footer Placeholder 3"/>
          <p:cNvSpPr>
            <a:spLocks noGrp="1"/>
          </p:cNvSpPr>
          <p:nvPr>
            <p:ph type="ftr" sz="quarter" idx="11"/>
          </p:nvPr>
        </p:nvSpPr>
        <p:spPr/>
        <p:txBody>
          <a:bodyPr/>
          <a:lstStyle/>
          <a:p>
            <a:r>
              <a:rPr lang="en-GB"/>
              <a:t>Jane Kuria                                                                     Inoorero University</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23</a:t>
            </a:fld>
            <a:endParaRPr lang="en-GB"/>
          </a:p>
        </p:txBody>
      </p:sp>
    </p:spTree>
  </p:cSld>
  <p:clrMapOvr>
    <a:masterClrMapping/>
  </p:clrMapOvr>
  <p:transition spd="med">
    <p:zoom dir="in"/>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Time space trade off</a:t>
            </a:r>
          </a:p>
        </p:txBody>
      </p:sp>
      <p:sp>
        <p:nvSpPr>
          <p:cNvPr id="8" name="Content Placeholder 7"/>
          <p:cNvSpPr>
            <a:spLocks noGrp="1"/>
          </p:cNvSpPr>
          <p:nvPr>
            <p:ph idx="1"/>
          </p:nvPr>
        </p:nvSpPr>
        <p:spPr/>
        <p:txBody>
          <a:bodyPr/>
          <a:lstStyle/>
          <a:p>
            <a:r>
              <a:rPr lang="en-GB" dirty="0"/>
              <a:t>The time and space it uses are two major measures of the efficiency of an algorithm. </a:t>
            </a:r>
          </a:p>
          <a:p>
            <a:r>
              <a:rPr lang="en-GB" dirty="0"/>
              <a:t>The complexity of an algorithm is the function, which gives the running time and/or space in terms of the input size</a:t>
            </a:r>
          </a:p>
        </p:txBody>
      </p:sp>
      <p:sp>
        <p:nvSpPr>
          <p:cNvPr id="5" name="Date Placeholder 4"/>
          <p:cNvSpPr>
            <a:spLocks noGrp="1"/>
          </p:cNvSpPr>
          <p:nvPr>
            <p:ph type="dt" sz="half" idx="10"/>
          </p:nvPr>
        </p:nvSpPr>
        <p:spPr/>
        <p:txBody>
          <a:bodyPr/>
          <a:lstStyle/>
          <a:p>
            <a:pPr>
              <a:defRPr/>
            </a:pPr>
            <a:fld id="{1D64910A-CC9B-4F11-AE6D-271AB6A158DB}" type="datetime1">
              <a:rPr lang="en-US" altLang="en-US" smtClean="0"/>
              <a:t>5/26/2026</a:t>
            </a:fld>
            <a:endParaRPr lang="en-US" altLang="en-US"/>
          </a:p>
        </p:txBody>
      </p:sp>
      <p:sp>
        <p:nvSpPr>
          <p:cNvPr id="6" name="Footer Placeholder 5"/>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Algorithms </a:t>
            </a:r>
          </a:p>
        </p:txBody>
      </p:sp>
      <p:sp>
        <p:nvSpPr>
          <p:cNvPr id="6" name="Content Placeholder 5"/>
          <p:cNvSpPr>
            <a:spLocks noGrp="1"/>
          </p:cNvSpPr>
          <p:nvPr>
            <p:ph idx="1"/>
          </p:nvPr>
        </p:nvSpPr>
        <p:spPr/>
        <p:txBody>
          <a:bodyPr>
            <a:normAutofit/>
          </a:bodyPr>
          <a:lstStyle/>
          <a:p>
            <a:r>
              <a:rPr lang="en-GB" dirty="0"/>
              <a:t>Each of our algorithms involve a particular data structure.</a:t>
            </a:r>
          </a:p>
          <a:p>
            <a:r>
              <a:rPr lang="en-GB" dirty="0"/>
              <a:t>We may not always be able to use the most efficient algorithm, since the choice of data structure depends on many things, including the type of data and the frequency with which various data operations are applied. </a:t>
            </a:r>
          </a:p>
          <a:p>
            <a:r>
              <a:rPr lang="en-GB" dirty="0"/>
              <a:t>Sometimes the choice of data structure involves a time-space trade-off: by increasing the amount of space for storing the data, one may be able to reduce the time needed for processing the data, or vice versa. </a:t>
            </a:r>
          </a:p>
        </p:txBody>
      </p:sp>
      <p:sp>
        <p:nvSpPr>
          <p:cNvPr id="3" name="Date Placeholder 2"/>
          <p:cNvSpPr>
            <a:spLocks noGrp="1"/>
          </p:cNvSpPr>
          <p:nvPr>
            <p:ph type="dt" sz="half" idx="10"/>
          </p:nvPr>
        </p:nvSpPr>
        <p:spPr/>
        <p:txBody>
          <a:bodyPr/>
          <a:lstStyle/>
          <a:p>
            <a:fld id="{B31C646D-F7D8-4659-B568-67EA15F6293F}" type="datetime1">
              <a:rPr lang="en-US" smtClean="0"/>
              <a:t>5/26/2026</a:t>
            </a:fld>
            <a:endParaRPr lang="en-GB"/>
          </a:p>
        </p:txBody>
      </p:sp>
      <p:sp>
        <p:nvSpPr>
          <p:cNvPr id="4" name="Footer Placeholder 3"/>
          <p:cNvSpPr>
            <a:spLocks noGrp="1"/>
          </p:cNvSpPr>
          <p:nvPr>
            <p:ph type="ftr" sz="quarter" idx="11"/>
          </p:nvPr>
        </p:nvSpPr>
        <p:spPr/>
        <p:txBody>
          <a:bodyPr/>
          <a:lstStyle/>
          <a:p>
            <a:r>
              <a:rPr lang="en-GB"/>
              <a:t>Jane Kuria                                                                     Inoorero University</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25</a:t>
            </a:fld>
            <a:endParaRPr lang="en-GB"/>
          </a:p>
        </p:txBody>
      </p:sp>
    </p:spTree>
  </p:cSld>
  <p:clrMapOvr>
    <a:masterClrMapping/>
  </p:clrMapOvr>
  <p:transition spd="med">
    <p:zoom dir="in"/>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Characteristics of an algorithm</a:t>
            </a:r>
          </a:p>
        </p:txBody>
      </p:sp>
      <p:sp>
        <p:nvSpPr>
          <p:cNvPr id="3" name="Content Placeholder 2"/>
          <p:cNvSpPr>
            <a:spLocks noGrp="1"/>
          </p:cNvSpPr>
          <p:nvPr>
            <p:ph idx="1"/>
          </p:nvPr>
        </p:nvSpPr>
        <p:spPr/>
        <p:txBody>
          <a:bodyPr>
            <a:normAutofit fontScale="55000" lnSpcReduction="20000"/>
          </a:bodyPr>
          <a:lstStyle/>
          <a:p>
            <a:r>
              <a:rPr lang="en-US" sz="3200" b="1" dirty="0"/>
              <a:t>Input-</a:t>
            </a:r>
            <a:r>
              <a:rPr lang="en-US" sz="3200" dirty="0"/>
              <a:t>An algorithm takes one or more input from an external source</a:t>
            </a:r>
          </a:p>
          <a:p>
            <a:r>
              <a:rPr lang="en-US" sz="3200" b="1" dirty="0"/>
              <a:t>Outpu</a:t>
            </a:r>
            <a:r>
              <a:rPr lang="en-US" sz="3200" dirty="0"/>
              <a:t>t-For every input(s) provided there  should be an output </a:t>
            </a:r>
          </a:p>
          <a:p>
            <a:r>
              <a:rPr lang="en-US" sz="3200" b="1" dirty="0"/>
              <a:t>Finiteness- </a:t>
            </a:r>
            <a:r>
              <a:rPr lang="en-US" sz="3200" dirty="0"/>
              <a:t>An algorithm must terminate for any number of input(s) supplied</a:t>
            </a:r>
          </a:p>
          <a:p>
            <a:r>
              <a:rPr lang="en-US" sz="3200" b="1" dirty="0"/>
              <a:t>Definiteness-</a:t>
            </a:r>
            <a:r>
              <a:rPr lang="en-US" sz="3200" dirty="0"/>
              <a:t>Each step of a given algorithm must be clear and unambiguous</a:t>
            </a:r>
          </a:p>
          <a:p>
            <a:r>
              <a:rPr lang="en-US" sz="3200" b="1" dirty="0"/>
              <a:t>Effectiveness-</a:t>
            </a:r>
            <a:r>
              <a:rPr lang="en-US" sz="3200" dirty="0"/>
              <a:t>An algorithm should solve the problem it was designed to solve. And it should be possible to demonstrate that the algorithm converges with just a paper and a pen</a:t>
            </a:r>
            <a:endParaRPr lang="en-US" sz="3200" b="1" dirty="0"/>
          </a:p>
          <a:p>
            <a:pPr marL="0" indent="0">
              <a:buNone/>
            </a:pPr>
            <a:endParaRPr lang="en-GB" dirty="0"/>
          </a:p>
          <a:p>
            <a:pPr marL="571500" indent="-571500">
              <a:buFont typeface="+mj-lt"/>
              <a:buAutoNum type="romanLcPeriod"/>
            </a:pPr>
            <a:endParaRPr lang="en-GB" dirty="0"/>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Fundamental data structures</a:t>
            </a:r>
          </a:p>
        </p:txBody>
      </p:sp>
      <p:sp>
        <p:nvSpPr>
          <p:cNvPr id="3" name="Content Placeholder 2"/>
          <p:cNvSpPr>
            <a:spLocks noGrp="1"/>
          </p:cNvSpPr>
          <p:nvPr>
            <p:ph idx="1"/>
          </p:nvPr>
        </p:nvSpPr>
        <p:spPr/>
        <p:txBody>
          <a:bodyPr/>
          <a:lstStyle/>
          <a:p>
            <a:pPr marL="571500" indent="-457200">
              <a:buFont typeface="+mj-lt"/>
              <a:buAutoNum type="arabicPeriod"/>
            </a:pPr>
            <a:r>
              <a:rPr lang="en-US" dirty="0"/>
              <a:t>Linear data structures</a:t>
            </a:r>
          </a:p>
          <a:p>
            <a:pPr marL="571500" indent="-457200">
              <a:buFont typeface="+mj-lt"/>
              <a:buAutoNum type="arabicPeriod"/>
            </a:pPr>
            <a:r>
              <a:rPr lang="en-US" dirty="0"/>
              <a:t>Graphs</a:t>
            </a:r>
          </a:p>
          <a:p>
            <a:pPr marL="571500" indent="-457200">
              <a:buFont typeface="+mj-lt"/>
              <a:buAutoNum type="arabicPeriod"/>
            </a:pPr>
            <a:r>
              <a:rPr lang="en-US" dirty="0"/>
              <a:t>Trees</a:t>
            </a:r>
          </a:p>
          <a:p>
            <a:pPr marL="571500" indent="-457200">
              <a:buFont typeface="+mj-lt"/>
              <a:buAutoNum type="arabicPeriod"/>
            </a:pPr>
            <a:r>
              <a:rPr lang="en-US" dirty="0"/>
              <a:t>Sets and dictionaries</a:t>
            </a:r>
          </a:p>
          <a:p>
            <a:endParaRPr lang="en-GB" dirty="0"/>
          </a:p>
        </p:txBody>
      </p:sp>
      <p:sp>
        <p:nvSpPr>
          <p:cNvPr id="4" name="Date Placeholder 3"/>
          <p:cNvSpPr>
            <a:spLocks noGrp="1"/>
          </p:cNvSpPr>
          <p:nvPr>
            <p:ph type="dt" sz="half" idx="10"/>
          </p:nvPr>
        </p:nvSpPr>
        <p:spPr/>
        <p:txBody>
          <a:bodyPr/>
          <a:lstStyle/>
          <a:p>
            <a:pPr>
              <a:defRPr/>
            </a:pPr>
            <a:fld id="{01C094A7-FA4E-4B65-B98F-C9FBEB58B116}" type="datetime1">
              <a:rPr lang="en-US" altLang="en-US" smtClean="0"/>
              <a:t>5/26/2026</a:t>
            </a:fld>
            <a:endParaRPr lang="en-US" altLang="en-US"/>
          </a:p>
        </p:txBody>
      </p:sp>
      <p:sp>
        <p:nvSpPr>
          <p:cNvPr id="5" name="Footer Placeholder 4"/>
          <p:cNvSpPr>
            <a:spLocks noGrp="1"/>
          </p:cNvSpPr>
          <p:nvPr>
            <p:ph type="ftr" sz="quarter" idx="11"/>
          </p:nvPr>
        </p:nvSpPr>
        <p:spPr/>
        <p:txBody>
          <a:bodyPr/>
          <a:lstStyle/>
          <a:p>
            <a:pPr>
              <a:defRPr/>
            </a:pPr>
            <a:r>
              <a:rPr lang="en-US" altLang="en-US"/>
              <a:t>Data structures and algorithms</a:t>
            </a:r>
          </a:p>
        </p:txBody>
      </p:sp>
    </p:spTree>
  </p:cSld>
  <p:clrMapOvr>
    <a:masterClrMapping/>
  </p:clrMapOvr>
  <p:transition spd="med">
    <p:zoom dir="in"/>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pPr eaLnBrk="1" fontAlgn="auto" hangingPunct="1">
              <a:spcAft>
                <a:spcPts val="0"/>
              </a:spcAft>
              <a:defRPr/>
            </a:pPr>
            <a:r>
              <a:rPr lang="en-US" dirty="0"/>
              <a:t>Linear and non-linear data structures</a:t>
            </a:r>
          </a:p>
        </p:txBody>
      </p:sp>
      <p:sp>
        <p:nvSpPr>
          <p:cNvPr id="15365" name="Rectangle 3"/>
          <p:cNvSpPr>
            <a:spLocks noGrp="1" noChangeArrowheads="1"/>
          </p:cNvSpPr>
          <p:nvPr>
            <p:ph idx="1"/>
          </p:nvPr>
        </p:nvSpPr>
        <p:spPr/>
        <p:txBody>
          <a:bodyPr/>
          <a:lstStyle/>
          <a:p>
            <a:pPr eaLnBrk="1" hangingPunct="1"/>
            <a:r>
              <a:rPr lang="en-GB" dirty="0"/>
              <a:t>We may classify these data structures as linear and non-linear data structures. However, this is not the only way to classify data structures. </a:t>
            </a:r>
          </a:p>
          <a:p>
            <a:pPr eaLnBrk="1" hangingPunct="1"/>
            <a:r>
              <a:rPr lang="en-GB" dirty="0"/>
              <a:t>In linear data structure the data items are arranged in a linear sequence like in an array.</a:t>
            </a:r>
          </a:p>
          <a:p>
            <a:pPr eaLnBrk="1" hangingPunct="1"/>
            <a:r>
              <a:rPr lang="en-GB" dirty="0"/>
              <a:t> In a non-linear, the data items are not in sequence. An example of a non-linear data structure is a tree.</a:t>
            </a:r>
            <a:endParaRPr lang="en-US" dirty="0"/>
          </a:p>
        </p:txBody>
      </p:sp>
      <p:sp>
        <p:nvSpPr>
          <p:cNvPr id="15363" name="Date Placeholder 5"/>
          <p:cNvSpPr>
            <a:spLocks noGrp="1"/>
          </p:cNvSpPr>
          <p:nvPr>
            <p:ph type="dt" sz="half" idx="10"/>
          </p:nvPr>
        </p:nvSpPr>
        <p:spPr bwMode="auto">
          <a:noFill/>
          <a:ln>
            <a:miter lim="800000"/>
          </a:ln>
        </p:spPr>
        <p:txBody>
          <a:bodyPr vert="horz" wrap="square" lIns="91440" tIns="45720" rIns="91440" bIns="45720" numCol="1" compatLnSpc="1"/>
          <a:lstStyle/>
          <a:p>
            <a:fld id="{8B056A88-B7CE-4EB5-A3D2-AB4875733B0B}" type="datetime1">
              <a:rPr lang="en-US" altLang="en-US" smtClean="0"/>
              <a:t>5/26/2026</a:t>
            </a:fld>
            <a:endParaRPr lang="en-US" altLang="en-US" dirty="0"/>
          </a:p>
        </p:txBody>
      </p:sp>
      <p:sp>
        <p:nvSpPr>
          <p:cNvPr id="15364" name="Footer Placeholder 6"/>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GB" b="1" dirty="0"/>
              <a:t>Homogenous and non-homogenous</a:t>
            </a:r>
          </a:p>
        </p:txBody>
      </p:sp>
      <p:sp>
        <p:nvSpPr>
          <p:cNvPr id="16389" name="Content Placeholder 4"/>
          <p:cNvSpPr>
            <a:spLocks noGrp="1"/>
          </p:cNvSpPr>
          <p:nvPr>
            <p:ph idx="1"/>
          </p:nvPr>
        </p:nvSpPr>
        <p:spPr/>
        <p:txBody>
          <a:bodyPr/>
          <a:lstStyle/>
          <a:p>
            <a:pPr eaLnBrk="1" hangingPunct="1"/>
            <a:r>
              <a:rPr lang="en-GB" dirty="0"/>
              <a:t>Data structures may also be classified as homogenous and non-homogenous data structures. </a:t>
            </a:r>
          </a:p>
          <a:p>
            <a:pPr eaLnBrk="1" hangingPunct="1"/>
            <a:r>
              <a:rPr lang="en-GB" dirty="0"/>
              <a:t>An Array is a homogenous structure in which all elements are of same type. </a:t>
            </a:r>
          </a:p>
          <a:p>
            <a:pPr eaLnBrk="1" hangingPunct="1"/>
            <a:r>
              <a:rPr lang="en-GB" dirty="0"/>
              <a:t>In non-homogenous structures the elements may or may not be of the same type. Records are common example of non-homogenous data structures.</a:t>
            </a:r>
          </a:p>
        </p:txBody>
      </p:sp>
      <p:sp>
        <p:nvSpPr>
          <p:cNvPr id="16387" name="Date Placeholder 2"/>
          <p:cNvSpPr>
            <a:spLocks noGrp="1"/>
          </p:cNvSpPr>
          <p:nvPr>
            <p:ph type="dt" sz="half" idx="10"/>
          </p:nvPr>
        </p:nvSpPr>
        <p:spPr bwMode="auto">
          <a:noFill/>
          <a:ln>
            <a:miter lim="800000"/>
          </a:ln>
        </p:spPr>
        <p:txBody>
          <a:bodyPr vert="horz" wrap="square" lIns="91440" tIns="45720" rIns="91440" bIns="45720" numCol="1" compatLnSpc="1"/>
          <a:lstStyle/>
          <a:p>
            <a:fld id="{F303B61A-D5BC-4811-B966-263C24120ECF}" type="datetime1">
              <a:rPr lang="en-US" altLang="en-US" smtClean="0"/>
              <a:t>5/26/2026</a:t>
            </a:fld>
            <a:endParaRPr lang="en-US" altLang="en-US" dirty="0"/>
          </a:p>
        </p:txBody>
      </p:sp>
      <p:sp>
        <p:nvSpPr>
          <p:cNvPr id="16388"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Static and dynamic data structures</a:t>
            </a:r>
          </a:p>
        </p:txBody>
      </p:sp>
      <p:sp>
        <p:nvSpPr>
          <p:cNvPr id="17413" name="Content Placeholder 4"/>
          <p:cNvSpPr>
            <a:spLocks noGrp="1"/>
          </p:cNvSpPr>
          <p:nvPr>
            <p:ph idx="1"/>
          </p:nvPr>
        </p:nvSpPr>
        <p:spPr/>
        <p:txBody>
          <a:bodyPr/>
          <a:lstStyle/>
          <a:p>
            <a:pPr eaLnBrk="1" hangingPunct="1"/>
            <a:r>
              <a:rPr lang="en-GB" dirty="0"/>
              <a:t>Static structures are ones whose sizes and structures associated memory location are fixed at compile time.</a:t>
            </a:r>
          </a:p>
          <a:p>
            <a:pPr eaLnBrk="1" hangingPunct="1"/>
            <a:r>
              <a:rPr lang="en-GB" dirty="0"/>
              <a:t>Dynamic structures are ones, which expand or shrink as required during the program execution and their associated memory locations change. </a:t>
            </a:r>
          </a:p>
          <a:p>
            <a:pPr eaLnBrk="1" hangingPunct="1"/>
            <a:r>
              <a:rPr lang="en-GB" dirty="0"/>
              <a:t>Records are a common example of non-homogenous data structures</a:t>
            </a:r>
          </a:p>
        </p:txBody>
      </p:sp>
      <p:sp>
        <p:nvSpPr>
          <p:cNvPr id="17411" name="Date Placeholder 2"/>
          <p:cNvSpPr>
            <a:spLocks noGrp="1"/>
          </p:cNvSpPr>
          <p:nvPr>
            <p:ph type="dt" sz="half" idx="10"/>
          </p:nvPr>
        </p:nvSpPr>
        <p:spPr bwMode="auto">
          <a:noFill/>
          <a:ln>
            <a:miter lim="800000"/>
          </a:ln>
        </p:spPr>
        <p:txBody>
          <a:bodyPr vert="horz" wrap="square" lIns="91440" tIns="45720" rIns="91440" bIns="45720" numCol="1" compatLnSpc="1"/>
          <a:lstStyle/>
          <a:p>
            <a:fld id="{A5987846-BA53-4ADD-A635-33468263BF94}" type="datetime1">
              <a:rPr lang="en-US" altLang="en-US" smtClean="0"/>
              <a:t>5/26/2026</a:t>
            </a:fld>
            <a:endParaRPr lang="en-US" altLang="en-US" dirty="0"/>
          </a:p>
        </p:txBody>
      </p:sp>
      <p:sp>
        <p:nvSpPr>
          <p:cNvPr id="17412"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b="1" dirty="0"/>
              <a:t>A Classification of Data Structures</a:t>
            </a:r>
            <a:endParaRPr lang="en-GB" dirty="0"/>
          </a:p>
        </p:txBody>
      </p:sp>
      <p:sp>
        <p:nvSpPr>
          <p:cNvPr id="18437" name="Content Placeholder 4"/>
          <p:cNvSpPr>
            <a:spLocks noGrp="1"/>
          </p:cNvSpPr>
          <p:nvPr>
            <p:ph idx="1"/>
          </p:nvPr>
        </p:nvSpPr>
        <p:spPr/>
        <p:txBody>
          <a:bodyPr>
            <a:normAutofit fontScale="92500" lnSpcReduction="20000"/>
          </a:bodyPr>
          <a:lstStyle/>
          <a:p>
            <a:pPr eaLnBrk="1" hangingPunct="1"/>
            <a:r>
              <a:rPr lang="en-GB" b="1" dirty="0"/>
              <a:t>Logical Data Structures</a:t>
            </a:r>
          </a:p>
          <a:p>
            <a:pPr eaLnBrk="1" hangingPunct="1"/>
            <a:r>
              <a:rPr lang="en-GB" dirty="0"/>
              <a:t>Data structures are very important in computer systems. In a program, every variable is of some explicitly or implicitly defined data structure, which determines the set of operations that are legal upon that variable. </a:t>
            </a:r>
          </a:p>
          <a:p>
            <a:pPr eaLnBrk="1" hangingPunct="1"/>
            <a:r>
              <a:rPr lang="en-GB" dirty="0"/>
              <a:t>The data structures that we discuss here are termed </a:t>
            </a:r>
            <a:r>
              <a:rPr lang="en-GB" i="1" dirty="0"/>
              <a:t>logical data structures. There may be several different physical representations on storage possible for each logical data </a:t>
            </a:r>
            <a:r>
              <a:rPr lang="en-GB" dirty="0"/>
              <a:t>structure. </a:t>
            </a:r>
          </a:p>
          <a:p>
            <a:pPr eaLnBrk="1" hangingPunct="1"/>
            <a:r>
              <a:rPr lang="en-GB" dirty="0"/>
              <a:t>For each data structure that we consider, several possible mappings to storage will be introduced.</a:t>
            </a:r>
          </a:p>
        </p:txBody>
      </p:sp>
      <p:sp>
        <p:nvSpPr>
          <p:cNvPr id="18435" name="Date Placeholder 2"/>
          <p:cNvSpPr>
            <a:spLocks noGrp="1"/>
          </p:cNvSpPr>
          <p:nvPr>
            <p:ph type="dt" sz="half" idx="10"/>
          </p:nvPr>
        </p:nvSpPr>
        <p:spPr bwMode="auto">
          <a:noFill/>
          <a:ln>
            <a:miter lim="800000"/>
          </a:ln>
        </p:spPr>
        <p:txBody>
          <a:bodyPr vert="horz" wrap="square" lIns="91440" tIns="45720" rIns="91440" bIns="45720" numCol="1" compatLnSpc="1"/>
          <a:lstStyle/>
          <a:p>
            <a:fld id="{E03035D6-11B8-4271-B85D-4560F0A46B47}" type="datetime1">
              <a:rPr lang="en-US" altLang="en-US" smtClean="0"/>
              <a:t>5/26/2026</a:t>
            </a:fld>
            <a:endParaRPr lang="en-US" altLang="en-US" dirty="0"/>
          </a:p>
        </p:txBody>
      </p:sp>
      <p:sp>
        <p:nvSpPr>
          <p:cNvPr id="18436"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Table 1</a:t>
            </a:r>
          </a:p>
        </p:txBody>
      </p:sp>
      <p:pic>
        <p:nvPicPr>
          <p:cNvPr id="19461" name="Picture 2"/>
          <p:cNvPicPr>
            <a:picLocks noGrp="1" noChangeAspect="1" noChangeArrowheads="1"/>
          </p:cNvPicPr>
          <p:nvPr>
            <p:ph idx="1"/>
          </p:nvPr>
        </p:nvPicPr>
        <p:blipFill>
          <a:blip r:embed="rId3" cstate="print"/>
          <a:stretch>
            <a:fillRect/>
          </a:stretch>
        </p:blipFill>
        <p:spPr>
          <a:xfrm>
            <a:off x="3027362" y="3449637"/>
            <a:ext cx="4924425" cy="1628775"/>
          </a:xfrm>
          <a:noFill/>
        </p:spPr>
      </p:pic>
      <p:sp>
        <p:nvSpPr>
          <p:cNvPr id="19459" name="Date Placeholder 2"/>
          <p:cNvSpPr>
            <a:spLocks noGrp="1"/>
          </p:cNvSpPr>
          <p:nvPr>
            <p:ph type="dt" sz="half" idx="10"/>
          </p:nvPr>
        </p:nvSpPr>
        <p:spPr bwMode="auto">
          <a:noFill/>
          <a:ln>
            <a:miter lim="800000"/>
          </a:ln>
        </p:spPr>
        <p:txBody>
          <a:bodyPr vert="horz" wrap="square" lIns="91440" tIns="45720" rIns="91440" bIns="45720" numCol="1" compatLnSpc="1"/>
          <a:lstStyle/>
          <a:p>
            <a:fld id="{3F41AF11-48E7-448C-919B-0E9FBFC4F084}" type="datetime1">
              <a:rPr lang="en-US" altLang="en-US" smtClean="0"/>
              <a:t>5/26/2026</a:t>
            </a:fld>
            <a:endParaRPr lang="en-US" altLang="en-US" dirty="0"/>
          </a:p>
        </p:txBody>
      </p:sp>
      <p:sp>
        <p:nvSpPr>
          <p:cNvPr id="19460"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b="1" dirty="0"/>
              <a:t>Primitive and Simple Structures</a:t>
            </a:r>
            <a:endParaRPr lang="en-GB" dirty="0"/>
          </a:p>
        </p:txBody>
      </p:sp>
      <p:sp>
        <p:nvSpPr>
          <p:cNvPr id="20485" name="Content Placeholder 4"/>
          <p:cNvSpPr>
            <a:spLocks noGrp="1"/>
          </p:cNvSpPr>
          <p:nvPr>
            <p:ph idx="1"/>
          </p:nvPr>
        </p:nvSpPr>
        <p:spPr/>
        <p:txBody>
          <a:bodyPr>
            <a:normAutofit lnSpcReduction="10000"/>
          </a:bodyPr>
          <a:lstStyle/>
          <a:p>
            <a:pPr eaLnBrk="1" hangingPunct="1"/>
            <a:r>
              <a:rPr lang="en-GB" dirty="0"/>
              <a:t>Table 1 above categorizes some of the data structures that are discussed in this course. </a:t>
            </a:r>
          </a:p>
          <a:p>
            <a:pPr eaLnBrk="1" hangingPunct="1"/>
            <a:r>
              <a:rPr lang="en-GB" dirty="0"/>
              <a:t>Some are </a:t>
            </a:r>
            <a:r>
              <a:rPr lang="en-GB" i="1" dirty="0"/>
              <a:t>primitive: that is, they are not </a:t>
            </a:r>
            <a:r>
              <a:rPr lang="en-GB" dirty="0"/>
              <a:t>composed of other data structures, examples are: integers, </a:t>
            </a:r>
            <a:r>
              <a:rPr lang="en-GB" dirty="0" err="1"/>
              <a:t>booleans</a:t>
            </a:r>
            <a:r>
              <a:rPr lang="en-GB" dirty="0"/>
              <a:t>, and characters. Other data structures can be constructed from one or more primitives. </a:t>
            </a:r>
          </a:p>
          <a:p>
            <a:pPr eaLnBrk="1" hangingPunct="1"/>
            <a:r>
              <a:rPr lang="en-GB" dirty="0"/>
              <a:t>The simple data structures built from primitives are strings, arrays, and records. </a:t>
            </a:r>
          </a:p>
          <a:p>
            <a:pPr eaLnBrk="1" hangingPunct="1"/>
            <a:r>
              <a:rPr lang="en-GB" dirty="0"/>
              <a:t>Many programming languages support these data structures.</a:t>
            </a:r>
          </a:p>
        </p:txBody>
      </p:sp>
      <p:sp>
        <p:nvSpPr>
          <p:cNvPr id="20483" name="Date Placeholder 2"/>
          <p:cNvSpPr>
            <a:spLocks noGrp="1"/>
          </p:cNvSpPr>
          <p:nvPr>
            <p:ph type="dt" sz="half" idx="10"/>
          </p:nvPr>
        </p:nvSpPr>
        <p:spPr bwMode="auto">
          <a:noFill/>
          <a:ln>
            <a:miter lim="800000"/>
          </a:ln>
        </p:spPr>
        <p:txBody>
          <a:bodyPr vert="horz" wrap="square" lIns="91440" tIns="45720" rIns="91440" bIns="45720" numCol="1" compatLnSpc="1"/>
          <a:lstStyle/>
          <a:p>
            <a:fld id="{119D6997-4E4C-40CE-A7E3-AFD618DD325D}" type="datetime1">
              <a:rPr lang="en-US" altLang="en-US" smtClean="0"/>
              <a:t>5/26/2026</a:t>
            </a:fld>
            <a:endParaRPr lang="en-US" altLang="en-US" dirty="0"/>
          </a:p>
        </p:txBody>
      </p:sp>
      <p:sp>
        <p:nvSpPr>
          <p:cNvPr id="20484"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dirty="0"/>
              <a:t>Data structures and algorithms</a:t>
            </a:r>
          </a:p>
        </p:txBody>
      </p:sp>
    </p:spTree>
  </p:cSld>
  <p:clrMapOvr>
    <a:masterClrMapping/>
  </p:clrMapOvr>
  <p:transition spd="med">
    <p:zoom dir="in"/>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GB" b="1"/>
              <a:t>Linear and Nonlinear Structures</a:t>
            </a:r>
            <a:endParaRPr lang="en-GB"/>
          </a:p>
        </p:txBody>
      </p:sp>
      <p:sp>
        <p:nvSpPr>
          <p:cNvPr id="21509" name="Content Placeholder 4"/>
          <p:cNvSpPr>
            <a:spLocks noGrp="1"/>
          </p:cNvSpPr>
          <p:nvPr>
            <p:ph idx="1"/>
          </p:nvPr>
        </p:nvSpPr>
        <p:spPr/>
        <p:txBody>
          <a:bodyPr>
            <a:normAutofit lnSpcReduction="10000"/>
          </a:bodyPr>
          <a:lstStyle/>
          <a:p>
            <a:pPr eaLnBrk="1" hangingPunct="1"/>
            <a:r>
              <a:rPr lang="en-GB"/>
              <a:t>Simple data structures can be combined in various ways to form more complex structures.</a:t>
            </a:r>
          </a:p>
          <a:p>
            <a:pPr eaLnBrk="1" hangingPunct="1"/>
            <a:r>
              <a:rPr lang="en-GB"/>
              <a:t> The two fundamental kinds of more complex data structures are linear and nonlinear, depending on the complexity of the logical relationships they represent. </a:t>
            </a:r>
          </a:p>
          <a:p>
            <a:pPr eaLnBrk="1" hangingPunct="1"/>
            <a:r>
              <a:rPr lang="en-GB"/>
              <a:t>The linear data structures that we will discuss include stacks, queues, and linear linked lists. </a:t>
            </a:r>
          </a:p>
          <a:p>
            <a:pPr eaLnBrk="1" hangingPunct="1"/>
            <a:r>
              <a:rPr lang="en-GB"/>
              <a:t>The nonlinear data structures include trees and graphs. We will find that there are many types of tree structures that are useful in information systems.</a:t>
            </a:r>
          </a:p>
        </p:txBody>
      </p:sp>
      <p:sp>
        <p:nvSpPr>
          <p:cNvPr id="21507" name="Date Placeholder 2"/>
          <p:cNvSpPr>
            <a:spLocks noGrp="1"/>
          </p:cNvSpPr>
          <p:nvPr>
            <p:ph type="dt" sz="half" idx="10"/>
          </p:nvPr>
        </p:nvSpPr>
        <p:spPr bwMode="auto">
          <a:noFill/>
          <a:ln>
            <a:miter lim="800000"/>
          </a:ln>
        </p:spPr>
        <p:txBody>
          <a:bodyPr vert="horz" wrap="square" lIns="91440" tIns="45720" rIns="91440" bIns="45720" numCol="1" compatLnSpc="1"/>
          <a:lstStyle/>
          <a:p>
            <a:fld id="{781A1A7D-8211-45E5-816E-BF941D579E8A}" type="datetime1">
              <a:rPr lang="en-US" altLang="en-US" smtClean="0"/>
              <a:t>5/26/2026</a:t>
            </a:fld>
            <a:endParaRPr lang="en-US" altLang="en-US"/>
          </a:p>
        </p:txBody>
      </p:sp>
      <p:sp>
        <p:nvSpPr>
          <p:cNvPr id="21508"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a:t>Data structures and algorithms</a:t>
            </a:r>
          </a:p>
        </p:txBody>
      </p:sp>
    </p:spTree>
  </p:cSld>
  <p:clrMapOvr>
    <a:masterClrMapping/>
  </p:clrMapOvr>
  <p:transition spd="med">
    <p:zoom dir="in"/>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GB" b="1"/>
              <a:t>File Organizations</a:t>
            </a:r>
            <a:endParaRPr lang="en-GB"/>
          </a:p>
        </p:txBody>
      </p:sp>
      <p:sp>
        <p:nvSpPr>
          <p:cNvPr id="5" name="Content Placeholder 4"/>
          <p:cNvSpPr>
            <a:spLocks noGrp="1"/>
          </p:cNvSpPr>
          <p:nvPr>
            <p:ph idx="1"/>
          </p:nvPr>
        </p:nvSpPr>
        <p:spPr/>
        <p:txBody>
          <a:bodyPr>
            <a:normAutofit fontScale="92500" lnSpcReduction="10000"/>
          </a:bodyPr>
          <a:lstStyle/>
          <a:p>
            <a:pPr marL="274320" indent="-274320" eaLnBrk="1" fontAlgn="auto" hangingPunct="1">
              <a:spcBef>
                <a:spcPts val="580"/>
              </a:spcBef>
              <a:spcAft>
                <a:spcPts val="0"/>
              </a:spcAft>
              <a:buFont typeface="Wingdings 2" panose="05020102010507070707"/>
              <a:buChar char=""/>
              <a:defRPr/>
            </a:pPr>
            <a:r>
              <a:rPr lang="en-GB" dirty="0"/>
              <a:t>The data structuring techniques applied to collections of data that are managed as “black boxes” by operating systems are commonly called file organizations. </a:t>
            </a:r>
          </a:p>
          <a:p>
            <a:pPr marL="274320" indent="-274320" eaLnBrk="1" fontAlgn="auto" hangingPunct="1">
              <a:spcBef>
                <a:spcPts val="580"/>
              </a:spcBef>
              <a:spcAft>
                <a:spcPts val="0"/>
              </a:spcAft>
              <a:buFont typeface="Wingdings 2" panose="05020102010507070707"/>
              <a:buChar char=""/>
              <a:defRPr/>
            </a:pPr>
            <a:r>
              <a:rPr lang="en-GB" dirty="0"/>
              <a:t>A file carries a name, contents, a location where it is kept, and some administrative information, for example, who owns it and how big it is.</a:t>
            </a:r>
          </a:p>
          <a:p>
            <a:pPr marL="274320" indent="-274320" eaLnBrk="1" fontAlgn="auto" hangingPunct="1">
              <a:spcBef>
                <a:spcPts val="580"/>
              </a:spcBef>
              <a:spcAft>
                <a:spcPts val="0"/>
              </a:spcAft>
              <a:buFont typeface="Wingdings 2" panose="05020102010507070707"/>
              <a:buChar char=""/>
              <a:defRPr/>
            </a:pPr>
            <a:r>
              <a:rPr lang="en-GB" dirty="0"/>
              <a:t> The four basic kinds of file organization are sequential, relative, indexed sequential, and </a:t>
            </a:r>
            <a:r>
              <a:rPr lang="en-GB" dirty="0" err="1"/>
              <a:t>multikey</a:t>
            </a:r>
            <a:r>
              <a:rPr lang="en-GB" dirty="0"/>
              <a:t> file organizations.</a:t>
            </a:r>
          </a:p>
          <a:p>
            <a:pPr marL="274320" indent="-274320" eaLnBrk="1" fontAlgn="auto" hangingPunct="1">
              <a:spcBef>
                <a:spcPts val="580"/>
              </a:spcBef>
              <a:spcAft>
                <a:spcPts val="0"/>
              </a:spcAft>
              <a:buFont typeface="Wingdings 2" panose="05020102010507070707"/>
              <a:buChar char=""/>
              <a:defRPr/>
            </a:pPr>
            <a:r>
              <a:rPr lang="en-GB" dirty="0"/>
              <a:t> These organizations determine how the contents of these are structured.</a:t>
            </a:r>
          </a:p>
          <a:p>
            <a:pPr marL="274320" indent="-274320" eaLnBrk="1" fontAlgn="auto" hangingPunct="1">
              <a:spcBef>
                <a:spcPts val="580"/>
              </a:spcBef>
              <a:spcAft>
                <a:spcPts val="0"/>
              </a:spcAft>
              <a:buFont typeface="Wingdings 2" panose="05020102010507070707"/>
              <a:buChar char=""/>
              <a:defRPr/>
            </a:pPr>
            <a:r>
              <a:rPr lang="en-GB" dirty="0"/>
              <a:t> They are built on the data structuring techniques.</a:t>
            </a:r>
          </a:p>
        </p:txBody>
      </p:sp>
      <p:sp>
        <p:nvSpPr>
          <p:cNvPr id="22531" name="Date Placeholder 2"/>
          <p:cNvSpPr>
            <a:spLocks noGrp="1"/>
          </p:cNvSpPr>
          <p:nvPr>
            <p:ph type="dt" sz="half" idx="10"/>
          </p:nvPr>
        </p:nvSpPr>
        <p:spPr bwMode="auto">
          <a:noFill/>
          <a:ln>
            <a:miter lim="800000"/>
          </a:ln>
        </p:spPr>
        <p:txBody>
          <a:bodyPr vert="horz" wrap="square" lIns="91440" tIns="45720" rIns="91440" bIns="45720" numCol="1" compatLnSpc="1"/>
          <a:lstStyle/>
          <a:p>
            <a:fld id="{88715EF2-943B-4281-9EBE-0F252A2C72BD}" type="datetime1">
              <a:rPr lang="en-US" altLang="en-US" smtClean="0"/>
              <a:t>5/26/2026</a:t>
            </a:fld>
            <a:endParaRPr lang="en-US" altLang="en-US"/>
          </a:p>
        </p:txBody>
      </p:sp>
      <p:sp>
        <p:nvSpPr>
          <p:cNvPr id="22532"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a:t>Data structures and algorithms</a:t>
            </a:r>
          </a:p>
        </p:txBody>
      </p:sp>
    </p:spTree>
  </p:cSld>
  <p:clrMapOvr>
    <a:masterClrMapping/>
  </p:clrMapOvr>
  <p:transition spd="med">
    <p:zoom dir="in"/>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GB" sz="8000" dirty="0"/>
              <a:t>       The end</a:t>
            </a:r>
          </a:p>
        </p:txBody>
      </p:sp>
      <p:pic>
        <p:nvPicPr>
          <p:cNvPr id="25605" name="Picture 4"/>
          <p:cNvPicPr>
            <a:picLocks noGrp="1" noChangeAspect="1" noChangeArrowheads="1"/>
          </p:cNvPicPr>
          <p:nvPr>
            <p:ph idx="1"/>
          </p:nvPr>
        </p:nvPicPr>
        <p:blipFill>
          <a:blip r:embed="rId3" cstate="print"/>
          <a:srcRect/>
          <a:stretch>
            <a:fillRect/>
          </a:stretch>
        </p:blipFill>
        <p:spPr>
          <a:xfrm>
            <a:off x="1371600" y="2286000"/>
            <a:ext cx="6376988" cy="2876550"/>
          </a:xfrm>
          <a:noFill/>
        </p:spPr>
      </p:pic>
      <p:sp>
        <p:nvSpPr>
          <p:cNvPr id="25603" name="Date Placeholder 2"/>
          <p:cNvSpPr>
            <a:spLocks noGrp="1"/>
          </p:cNvSpPr>
          <p:nvPr>
            <p:ph type="dt" sz="half" idx="10"/>
          </p:nvPr>
        </p:nvSpPr>
        <p:spPr bwMode="auto">
          <a:noFill/>
          <a:ln>
            <a:miter lim="800000"/>
          </a:ln>
        </p:spPr>
        <p:txBody>
          <a:bodyPr vert="horz" wrap="square" lIns="91440" tIns="45720" rIns="91440" bIns="45720" numCol="1" compatLnSpc="1"/>
          <a:lstStyle/>
          <a:p>
            <a:fld id="{11BEFF41-CCF0-461F-9097-B110366AA326}" type="datetime1">
              <a:rPr lang="en-US" altLang="en-US" smtClean="0"/>
              <a:t>5/26/2026</a:t>
            </a:fld>
            <a:endParaRPr lang="en-US" altLang="en-US"/>
          </a:p>
        </p:txBody>
      </p:sp>
      <p:sp>
        <p:nvSpPr>
          <p:cNvPr id="25604" name="Footer Placeholder 3"/>
          <p:cNvSpPr>
            <a:spLocks noGrp="1"/>
          </p:cNvSpPr>
          <p:nvPr>
            <p:ph type="ftr" sz="quarter" idx="11"/>
          </p:nvPr>
        </p:nvSpPr>
        <p:spPr bwMode="auto">
          <a:noFill/>
          <a:ln>
            <a:miter lim="800000"/>
          </a:ln>
        </p:spPr>
        <p:txBody>
          <a:bodyPr vert="horz" wrap="square" lIns="91440" tIns="45720" rIns="91440" bIns="45720" numCol="1" compatLnSpc="1"/>
          <a:lstStyle/>
          <a:p>
            <a:r>
              <a:rPr lang="en-US" altLang="en-US"/>
              <a:t>Data structures and algorithms</a:t>
            </a:r>
          </a:p>
        </p:txBody>
      </p:sp>
    </p:spTree>
  </p:cSld>
  <p:clrMapOvr>
    <a:masterClrMapping/>
  </p:clrMapOvr>
  <p:transition spd="med">
    <p:zoom dir="in"/>
  </p:transition>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Feathered</Template>
  <TotalTime>191</TotalTime>
  <Words>2527</Words>
  <Application>Microsoft Office PowerPoint</Application>
  <PresentationFormat>On-screen Show (4:3)</PresentationFormat>
  <Paragraphs>293</Paragraphs>
  <Slides>36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Century Schoolbook</vt:lpstr>
      <vt:lpstr>Corbel</vt:lpstr>
      <vt:lpstr>Times</vt:lpstr>
      <vt:lpstr>Times New Roman</vt:lpstr>
      <vt:lpstr>Wingdings</vt:lpstr>
      <vt:lpstr>Wingdings 2</vt:lpstr>
      <vt:lpstr>Feathered</vt:lpstr>
      <vt:lpstr>Chapter 1  DATA STRUCTURES</vt:lpstr>
      <vt:lpstr>INTRODUCTION TO DATA STRUCTURES</vt:lpstr>
      <vt:lpstr>The Use of Data</vt:lpstr>
      <vt:lpstr>The Use of Data…..</vt:lpstr>
      <vt:lpstr>The Use of Data….</vt:lpstr>
      <vt:lpstr>Kinds of Decisions</vt:lpstr>
      <vt:lpstr>Data Management</vt:lpstr>
      <vt:lpstr>Data Management Objectives</vt:lpstr>
      <vt:lpstr>Introduction to Data Structures</vt:lpstr>
      <vt:lpstr>Definition</vt:lpstr>
      <vt:lpstr>Selecting a data structure</vt:lpstr>
      <vt:lpstr>Different data structures</vt:lpstr>
      <vt:lpstr>Introduction to Data Structures</vt:lpstr>
      <vt:lpstr>Introduction…</vt:lpstr>
      <vt:lpstr> Why are data structures required? </vt:lpstr>
      <vt:lpstr>Data Structure Operations</vt:lpstr>
      <vt:lpstr>Major operations</vt:lpstr>
      <vt:lpstr>Note </vt:lpstr>
      <vt:lpstr>Operations </vt:lpstr>
      <vt:lpstr>What is an algorithm?</vt:lpstr>
      <vt:lpstr>Running time </vt:lpstr>
      <vt:lpstr>Kinds of analyses </vt:lpstr>
      <vt:lpstr>Algorithms  </vt:lpstr>
      <vt:lpstr>Time space trade off</vt:lpstr>
      <vt:lpstr>Algorithms </vt:lpstr>
      <vt:lpstr>Characteristics of an algorithm</vt:lpstr>
      <vt:lpstr>Fundamental data structures</vt:lpstr>
      <vt:lpstr>Linear and non-linear data structures</vt:lpstr>
      <vt:lpstr>Homogenous and non-homogenous</vt:lpstr>
      <vt:lpstr>Static and dynamic data structures</vt:lpstr>
      <vt:lpstr>A Classification of Data Structures</vt:lpstr>
      <vt:lpstr>Table 1</vt:lpstr>
      <vt:lpstr>Primitive and Simple Structures</vt:lpstr>
      <vt:lpstr>Linear and Nonlinear Structures</vt:lpstr>
      <vt:lpstr>File Organizations</vt:lpstr>
      <vt:lpstr>       The end</vt:lpstr>
    </vt:vector>
  </TitlesOfParts>
  <Company>SCI - UoN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Structures</dc:title>
  <dc:creator>Masinde</dc:creator>
  <cp:lastModifiedBy>hp</cp:lastModifiedBy>
  <cp:revision>545</cp:revision>
  <dcterms:created xsi:type="dcterms:W3CDTF">2001-06-06T05:29:00Z</dcterms:created>
  <dcterms:modified xsi:type="dcterms:W3CDTF">2026-05-26T04:23:17Z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3FBA7048EA6D4D049A6BDA0B85ABD3E4</vt:lpwstr>
  </property>
  <property fmtid="{D5CDD505-2E9C-101B-9397-08002B2CF9AE}" pid="3" name="KSOProductBuildVer">
    <vt:lpwstr>1033-11.2.0.11537</vt:lpwstr>
  </property>
</Properties>
</file>